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427C4B-11B9-D103-C737-DE3E0B6EF8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6FA81C7-570C-1DFD-1971-E33B7EA80D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0F994DC-8EBC-934A-532D-182B443D9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F0D6B-2D7D-4D9E-AFCE-5E9FF925E70F}" type="datetimeFigureOut">
              <a:rPr lang="pt-BR" smtClean="0"/>
              <a:t>15/03/2026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161B2F4-402E-60D1-277D-C102F0E8E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DD9DF3-208E-4A8A-114E-EC427A8F0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77598-E2BB-4112-9474-AB98D458938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4190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BFB037-1F73-175A-938D-92A79A7BC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773E26-9CBE-7376-C7E9-3E7C2FA814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24C02D5-DECE-625C-842E-9CC5F6711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F0D6B-2D7D-4D9E-AFCE-5E9FF925E70F}" type="datetimeFigureOut">
              <a:rPr lang="pt-BR" smtClean="0"/>
              <a:t>15/03/2026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65C59F0-0FAD-8584-3F80-50BC24ED5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3A7BE7C-61AD-9842-5F41-9A0E334F6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77598-E2BB-4112-9474-AB98D458938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151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2D577F-8754-2E01-EED0-42D570DAD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52E78F6-8875-7B5E-2EE6-11A7110A7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8719E9C-745E-F60A-3029-1DCDD2F82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F0D6B-2D7D-4D9E-AFCE-5E9FF925E70F}" type="datetimeFigureOut">
              <a:rPr lang="pt-BR" smtClean="0"/>
              <a:t>15/03/2026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5665B72-FEFD-D966-DE0C-B5C3CC925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68F1F33-46A5-1ACD-C0DA-C015BF941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77598-E2BB-4112-9474-AB98D458938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4805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451407-357F-55B4-8301-D2931D8A2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1DEE6A-286B-1FF2-6FBA-51088D9624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29834B7-3DAE-E649-B4C4-406BC06959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234A297-F296-8BE6-E0D2-619D76311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F0D6B-2D7D-4D9E-AFCE-5E9FF925E70F}" type="datetimeFigureOut">
              <a:rPr lang="pt-BR" smtClean="0"/>
              <a:t>15/03/2026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80F7D35-8566-FC2A-7E8E-4E57321DC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A6A1C82-177C-8983-A037-CB766867D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77598-E2BB-4112-9474-AB98D458938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1495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14AA31-867A-8616-1913-B3FF36163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4F2940-5996-6BF4-6AFF-1D864A4119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BC32696-3C0A-5E61-2C16-A54DEB7E3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B3F55D3-39D3-4BA1-81BF-A6546A9ACC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911AD7F-1E2B-114C-C78E-359F842D6B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1C956CE6-700A-ED9C-D1B2-F20717240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F0D6B-2D7D-4D9E-AFCE-5E9FF925E70F}" type="datetimeFigureOut">
              <a:rPr lang="pt-BR" smtClean="0"/>
              <a:t>15/03/2026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D99842E-FED1-4BF3-E210-81F13A8C7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8F3DC2E-805A-DEF8-61AC-8577A1B32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77598-E2BB-4112-9474-AB98D458938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6168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71F57A-AF33-B6E1-7A64-3B55DF9CF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2360E8B-DA1D-136A-F3ED-A4BA28188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F0D6B-2D7D-4D9E-AFCE-5E9FF925E70F}" type="datetimeFigureOut">
              <a:rPr lang="pt-BR" smtClean="0"/>
              <a:t>15/03/2026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9D3A443-619D-133E-FD00-346573F15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D31FB5-5BE7-EDB1-F5BD-C466764DB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77598-E2BB-4112-9474-AB98D458938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9639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8BE4F7B-A97A-3520-B001-6F27A5C75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F0D6B-2D7D-4D9E-AFCE-5E9FF925E70F}" type="datetimeFigureOut">
              <a:rPr lang="pt-BR" smtClean="0"/>
              <a:t>15/03/2026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530BD06-0059-B586-E887-564B81733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E5B2579-5131-3F12-1C85-6D9EBF7B0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77598-E2BB-4112-9474-AB98D458938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2830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3A73D4-6A80-5BEF-A1A9-0EB9DEADD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A079D0-5F7F-9865-D81D-6A55EF763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2DC209D-81D6-DA56-521B-B34E73FCA7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6C51742-B8F4-8233-37D0-8F4DAE0BB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F0D6B-2D7D-4D9E-AFCE-5E9FF925E70F}" type="datetimeFigureOut">
              <a:rPr lang="pt-BR" smtClean="0"/>
              <a:t>15/03/2026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CF0E2D7-4516-F851-D8EF-27E173E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F6D294F-0C9E-3215-229D-00151608C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77598-E2BB-4112-9474-AB98D458938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567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3D6676-ADE8-8F7D-DF4B-3127DDF72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2F75E3E-879F-7E39-880D-497DAD314E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7A21440-3A88-BECB-2319-1CAF55345C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2ADCAE0-929F-0265-B1A7-09A3B711C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F0D6B-2D7D-4D9E-AFCE-5E9FF925E70F}" type="datetimeFigureOut">
              <a:rPr lang="pt-BR" smtClean="0"/>
              <a:t>15/03/2026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9DF8B01-9B82-AECA-B261-86AE9D50A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0E62333-16D2-6CE0-3A3D-FA438C3BF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77598-E2BB-4112-9474-AB98D458938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692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62CAD8-638F-D8C4-DBBA-658BC2704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1AC8CB9-BF5F-A9FA-F8C6-003D9B5D9E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5B12270-2CB7-4FBE-ABAF-1602E6FC2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F0D6B-2D7D-4D9E-AFCE-5E9FF925E70F}" type="datetimeFigureOut">
              <a:rPr lang="pt-BR" smtClean="0"/>
              <a:t>15/03/2026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1EC3535-9DCB-BF16-184D-E7E1FB99A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AD6D75F-5F04-5EE5-4F03-D68D346BF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77598-E2BB-4112-9474-AB98D458938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0358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4D47D9D-940A-43A3-364E-0C9997582D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63BAC91-BDAC-7371-64F4-F399DB5802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6835091-56CB-277E-3EE9-98F122FA7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F0D6B-2D7D-4D9E-AFCE-5E9FF925E70F}" type="datetimeFigureOut">
              <a:rPr lang="pt-BR" smtClean="0"/>
              <a:t>15/03/2026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C58EE6E-8A7C-24DE-9E5C-54167E24A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1EED69C-2196-1510-0A74-760F2AC57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77598-E2BB-4112-9474-AB98D458938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5952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A405438-E513-54AD-2285-294B39ED0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1E11D07-191B-E046-1D52-E0FF9D564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A7A1BF9-2291-FEF0-9684-A7D673C304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9F0D6B-2D7D-4D9E-AFCE-5E9FF925E70F}" type="datetimeFigureOut">
              <a:rPr lang="pt-BR" smtClean="0"/>
              <a:t>15/03/2026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8C63547-F538-D526-11F1-62F91A2F6B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06E534F-5086-0030-7F27-17D93F16F2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B77598-E2BB-4112-9474-AB98D458938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0213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B5D0A3BD-05CB-824D-6943-28A03F70E4DA}"/>
              </a:ext>
            </a:extLst>
          </p:cNvPr>
          <p:cNvSpPr/>
          <p:nvPr/>
        </p:nvSpPr>
        <p:spPr>
          <a:xfrm>
            <a:off x="609600" y="812800"/>
            <a:ext cx="10922000" cy="52324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6B296DC-5E37-415D-BBF4-00FB3B0F0CD5}"/>
              </a:ext>
            </a:extLst>
          </p:cNvPr>
          <p:cNvSpPr txBox="1"/>
          <p:nvPr/>
        </p:nvSpPr>
        <p:spPr>
          <a:xfrm>
            <a:off x="914400" y="1143000"/>
            <a:ext cx="8509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>
                <a:solidFill>
                  <a:srgbClr val="141B2D"/>
                </a:solidFill>
                <a:latin typeface="Aptos Display" panose="020B0004020202020204" pitchFamily="34" charset="0"/>
              </a:rPr>
              <a:t>Optimization of an Ant Colony Simulation</a:t>
            </a:r>
            <a:endParaRPr lang="pt-BR" sz="2700" b="1">
              <a:solidFill>
                <a:srgbClr val="141B2D"/>
              </a:solidFill>
              <a:latin typeface="Aptos Display" panose="020B00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F18386F-B040-A5E8-C78D-95E7B9B5A882}"/>
              </a:ext>
            </a:extLst>
          </p:cNvPr>
          <p:cNvSpPr txBox="1"/>
          <p:nvPr/>
        </p:nvSpPr>
        <p:spPr>
          <a:xfrm>
            <a:off x="914400" y="1841500"/>
            <a:ext cx="7874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>
                <a:solidFill>
                  <a:srgbClr val="384256"/>
                </a:solidFill>
                <a:latin typeface="Aptos" panose="020B0004020202020204" pitchFamily="34" charset="0"/>
              </a:rPr>
              <a:t>Data layout reorganization, OpenMP parallelization, and MPI parallelization</a:t>
            </a:r>
            <a:endParaRPr lang="pt-BR" sz="1700">
              <a:solidFill>
                <a:srgbClr val="384256"/>
              </a:solidFill>
              <a:latin typeface="Aptos" panose="020B00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E54B33B-461D-FBEB-D8DE-F6BC40500119}"/>
              </a:ext>
            </a:extLst>
          </p:cNvPr>
          <p:cNvSpPr txBox="1"/>
          <p:nvPr/>
        </p:nvSpPr>
        <p:spPr>
          <a:xfrm>
            <a:off x="914400" y="2438400"/>
            <a:ext cx="8636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>
                <a:solidFill>
                  <a:srgbClr val="68748B"/>
                </a:solidFill>
                <a:latin typeface="Aptos" panose="020B0004020202020204" pitchFamily="34" charset="0"/>
              </a:rPr>
              <a:t>Objective: reduce total compute time while preserving the simulation model and benchmark fairness.</a:t>
            </a:r>
            <a:endParaRPr lang="pt-BR" sz="1600">
              <a:solidFill>
                <a:srgbClr val="68748B"/>
              </a:solidFill>
              <a:latin typeface="Aptos" panose="020B0004020202020204" pitchFamily="34" charset="0"/>
            </a:endParaRP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6D0DBCB5-ED37-FAA0-027F-56C8833C1C64}"/>
              </a:ext>
            </a:extLst>
          </p:cNvPr>
          <p:cNvSpPr/>
          <p:nvPr/>
        </p:nvSpPr>
        <p:spPr>
          <a:xfrm>
            <a:off x="914400" y="3987800"/>
            <a:ext cx="1219200" cy="558800"/>
          </a:xfrm>
          <a:prstGeom prst="round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rgbClr val="FFFFFF"/>
                </a:solidFill>
                <a:latin typeface="Aptos" panose="020B0004020202020204" pitchFamily="34" charset="0"/>
              </a:rPr>
              <a:t>SoA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F1B606B8-6FFE-1045-E10D-D094060FB734}"/>
              </a:ext>
            </a:extLst>
          </p:cNvPr>
          <p:cNvSpPr/>
          <p:nvPr/>
        </p:nvSpPr>
        <p:spPr>
          <a:xfrm>
            <a:off x="2260600" y="3987800"/>
            <a:ext cx="1219200" cy="558800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rgbClr val="FFFFFF"/>
                </a:solidFill>
                <a:latin typeface="Aptos" panose="020B0004020202020204" pitchFamily="34" charset="0"/>
              </a:rPr>
              <a:t>OpenMP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6C0D4E9-670D-335C-75BB-304BCDEE59E0}"/>
              </a:ext>
            </a:extLst>
          </p:cNvPr>
          <p:cNvSpPr/>
          <p:nvPr/>
        </p:nvSpPr>
        <p:spPr>
          <a:xfrm>
            <a:off x="4140200" y="3987800"/>
            <a:ext cx="1219200" cy="558800"/>
          </a:xfrm>
          <a:prstGeom prst="round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rgbClr val="FFFFFF"/>
                </a:solidFill>
                <a:latin typeface="Aptos" panose="020B0004020202020204" pitchFamily="34" charset="0"/>
              </a:rPr>
              <a:t>MPI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E73B24D-92F5-A402-ECB1-6E2228524A99}"/>
              </a:ext>
            </a:extLst>
          </p:cNvPr>
          <p:cNvSpPr txBox="1"/>
          <p:nvPr/>
        </p:nvSpPr>
        <p:spPr>
          <a:xfrm>
            <a:off x="8255000" y="3759200"/>
            <a:ext cx="2159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384256"/>
                </a:solidFill>
                <a:latin typeface="Aptos" panose="020B0004020202020204" pitchFamily="34" charset="0"/>
              </a:rPr>
              <a:t>AMD Ryzen 5 9600X</a:t>
            </a:r>
          </a:p>
          <a:p>
            <a:r>
              <a:rPr lang="en-US" sz="1400">
                <a:solidFill>
                  <a:srgbClr val="384256"/>
                </a:solidFill>
                <a:latin typeface="Aptos" panose="020B0004020202020204" pitchFamily="34" charset="0"/>
              </a:rPr>
              <a:t>Windows, g++ 14.2.0</a:t>
            </a:r>
          </a:p>
          <a:p>
            <a:r>
              <a:rPr lang="en-US" sz="1400">
                <a:solidFill>
                  <a:srgbClr val="384256"/>
                </a:solidFill>
                <a:latin typeface="Aptos" panose="020B0004020202020204" pitchFamily="34" charset="0"/>
              </a:rPr>
              <a:t>Headless benchmark</a:t>
            </a:r>
            <a:endParaRPr lang="pt-BR" sz="1400">
              <a:solidFill>
                <a:srgbClr val="384256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5443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1B5A6072-6AB0-A89C-78E5-C774245816D7}"/>
              </a:ext>
            </a:extLst>
          </p:cNvPr>
          <p:cNvSpPr txBox="1"/>
          <p:nvPr/>
        </p:nvSpPr>
        <p:spPr>
          <a:xfrm>
            <a:off x="660400" y="304800"/>
            <a:ext cx="3048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000" b="1">
                <a:solidFill>
                  <a:srgbClr val="68748B"/>
                </a:solidFill>
                <a:latin typeface="Aptos" panose="020B0004020202020204" pitchFamily="34" charset="0"/>
              </a:rPr>
              <a:t>Context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B16824E-0C94-5DD4-00CF-EC6B3E775950}"/>
              </a:ext>
            </a:extLst>
          </p:cNvPr>
          <p:cNvSpPr txBox="1"/>
          <p:nvPr/>
        </p:nvSpPr>
        <p:spPr>
          <a:xfrm>
            <a:off x="660400" y="533400"/>
            <a:ext cx="9652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2300" b="1">
                <a:solidFill>
                  <a:srgbClr val="141B2D"/>
                </a:solidFill>
                <a:latin typeface="Aptos Display" panose="020B0004020202020204" pitchFamily="34" charset="0"/>
              </a:rPr>
              <a:t>Problem and Benchmark Setup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E50A929-4D69-76B1-7732-1D173ED1A7CF}"/>
              </a:ext>
            </a:extLst>
          </p:cNvPr>
          <p:cNvSpPr/>
          <p:nvPr/>
        </p:nvSpPr>
        <p:spPr>
          <a:xfrm>
            <a:off x="660400" y="1066800"/>
            <a:ext cx="863600" cy="50800"/>
          </a:xfrm>
          <a:prstGeom prst="rect">
            <a:avLst/>
          </a:prstGeom>
          <a:solidFill>
            <a:srgbClr val="0891B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904D944F-9FED-A25E-31AC-89A2DB925B13}"/>
              </a:ext>
            </a:extLst>
          </p:cNvPr>
          <p:cNvSpPr/>
          <p:nvPr/>
        </p:nvSpPr>
        <p:spPr>
          <a:xfrm>
            <a:off x="660400" y="1422400"/>
            <a:ext cx="579120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2879870-4FFC-845D-6938-30AF4CCBCDC9}"/>
              </a:ext>
            </a:extLst>
          </p:cNvPr>
          <p:cNvSpPr txBox="1"/>
          <p:nvPr/>
        </p:nvSpPr>
        <p:spPr>
          <a:xfrm>
            <a:off x="838200" y="1574800"/>
            <a:ext cx="54356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600" b="1">
                <a:solidFill>
                  <a:srgbClr val="141B2D"/>
                </a:solidFill>
                <a:latin typeface="Aptos" panose="020B0004020202020204" pitchFamily="34" charset="0"/>
              </a:rPr>
              <a:t>Benchmark conditions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BCB8050-3D2B-BE07-60E0-86B9353BD434}"/>
              </a:ext>
            </a:extLst>
          </p:cNvPr>
          <p:cNvSpPr txBox="1"/>
          <p:nvPr/>
        </p:nvSpPr>
        <p:spPr>
          <a:xfrm>
            <a:off x="838200" y="1955800"/>
            <a:ext cx="5435600" cy="161582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Terrain: 513 x 513 fractal grid, with nest and food source.</a:t>
            </a:r>
          </a:p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Reference workload: 5000 ants, headless execution, identical rules for all methods.</a:t>
            </a:r>
          </a:p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Dominant phase: ant movement, due to random choices and irregular memory access.</a:t>
            </a:r>
          </a:p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Correctness fixes before measurement: seed initialization and pheromone buffer refresh.</a:t>
            </a:r>
            <a:endParaRPr lang="pt-BR" sz="1500">
              <a:solidFill>
                <a:srgbClr val="384256"/>
              </a:solidFill>
              <a:latin typeface="Aptos" panose="020B0004020202020204" pitchFamily="34" charset="0"/>
            </a:endParaRP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4AAAA8B8-5F9F-F296-E77B-C6DAF03AF2CB}"/>
              </a:ext>
            </a:extLst>
          </p:cNvPr>
          <p:cNvSpPr/>
          <p:nvPr/>
        </p:nvSpPr>
        <p:spPr>
          <a:xfrm>
            <a:off x="6654800" y="1422400"/>
            <a:ext cx="4851400" cy="14224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FF22FC5A-D4FF-48E0-84AB-0D444FE592FB}"/>
              </a:ext>
            </a:extLst>
          </p:cNvPr>
          <p:cNvSpPr/>
          <p:nvPr/>
        </p:nvSpPr>
        <p:spPr>
          <a:xfrm>
            <a:off x="6807200" y="1549400"/>
            <a:ext cx="1371600" cy="330200"/>
          </a:xfrm>
          <a:prstGeom prst="round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>
                <a:solidFill>
                  <a:srgbClr val="FFFFFF"/>
                </a:solidFill>
                <a:latin typeface="Aptos" panose="020B0004020202020204" pitchFamily="34" charset="0"/>
              </a:rPr>
              <a:t>Baseline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E93A9BC-0CF2-7B63-C10B-375A4DC27039}"/>
              </a:ext>
            </a:extLst>
          </p:cNvPr>
          <p:cNvSpPr txBox="1"/>
          <p:nvPr/>
        </p:nvSpPr>
        <p:spPr>
          <a:xfrm>
            <a:off x="6832600" y="1981200"/>
            <a:ext cx="4495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b="1">
                <a:solidFill>
                  <a:srgbClr val="141B2D"/>
                </a:solidFill>
                <a:latin typeface="Aptos" panose="020B0004020202020204" pitchFamily="34" charset="0"/>
              </a:rPr>
              <a:t>0.904 ms/iter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B3ECCAD-865C-5BE7-D46A-17422B64C7F3}"/>
              </a:ext>
            </a:extLst>
          </p:cNvPr>
          <p:cNvSpPr txBox="1"/>
          <p:nvPr/>
        </p:nvSpPr>
        <p:spPr>
          <a:xfrm>
            <a:off x="6832600" y="2311400"/>
            <a:ext cx="44958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200">
                <a:solidFill>
                  <a:srgbClr val="68748B"/>
                </a:solidFill>
                <a:latin typeface="Aptos" panose="020B0004020202020204" pitchFamily="34" charset="0"/>
              </a:rPr>
              <a:t>Sequential AoS reference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D8447F0C-617C-F820-6316-367479CD2142}"/>
              </a:ext>
            </a:extLst>
          </p:cNvPr>
          <p:cNvSpPr/>
          <p:nvPr/>
        </p:nvSpPr>
        <p:spPr>
          <a:xfrm>
            <a:off x="6654800" y="3124200"/>
            <a:ext cx="4851400" cy="14224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DF77F11-F3B3-792C-0C96-8638C78B4C25}"/>
              </a:ext>
            </a:extLst>
          </p:cNvPr>
          <p:cNvSpPr/>
          <p:nvPr/>
        </p:nvSpPr>
        <p:spPr>
          <a:xfrm>
            <a:off x="6807200" y="3251200"/>
            <a:ext cx="1371600" cy="330200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>
                <a:solidFill>
                  <a:srgbClr val="FFFFFF"/>
                </a:solidFill>
                <a:latin typeface="Aptos" panose="020B0004020202020204" pitchFamily="34" charset="0"/>
              </a:rPr>
              <a:t>Bottleneck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F9270330-8037-22CF-4D41-CFA0CE496B82}"/>
              </a:ext>
            </a:extLst>
          </p:cNvPr>
          <p:cNvSpPr txBox="1"/>
          <p:nvPr/>
        </p:nvSpPr>
        <p:spPr>
          <a:xfrm>
            <a:off x="6832600" y="3683000"/>
            <a:ext cx="4495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b="1">
                <a:solidFill>
                  <a:srgbClr val="141B2D"/>
                </a:solidFill>
                <a:latin typeface="Aptos" panose="020B0004020202020204" pitchFamily="34" charset="0"/>
              </a:rPr>
              <a:t>0.634 ms/iter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38804F7D-B05C-1743-ED83-82650DED4101}"/>
              </a:ext>
            </a:extLst>
          </p:cNvPr>
          <p:cNvSpPr txBox="1"/>
          <p:nvPr/>
        </p:nvSpPr>
        <p:spPr>
          <a:xfrm>
            <a:off x="6832600" y="4013200"/>
            <a:ext cx="44958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>
                <a:solidFill>
                  <a:srgbClr val="68748B"/>
                </a:solidFill>
                <a:latin typeface="Aptos" panose="020B0004020202020204" pitchFamily="34" charset="0"/>
              </a:rPr>
              <a:t>Ant movement dominates the runtime</a:t>
            </a:r>
            <a:endParaRPr lang="pt-BR" sz="1200">
              <a:solidFill>
                <a:srgbClr val="68748B"/>
              </a:solidFill>
              <a:latin typeface="Aptos" panose="020B0004020202020204" pitchFamily="34" charset="0"/>
            </a:endParaRP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73A7F175-C8F9-A054-C598-BB5EAEF05D1E}"/>
              </a:ext>
            </a:extLst>
          </p:cNvPr>
          <p:cNvSpPr/>
          <p:nvPr/>
        </p:nvSpPr>
        <p:spPr>
          <a:xfrm>
            <a:off x="6654800" y="4826000"/>
            <a:ext cx="4851400" cy="10922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84C37E9E-AE86-2D9F-E554-A4022FD57840}"/>
              </a:ext>
            </a:extLst>
          </p:cNvPr>
          <p:cNvSpPr/>
          <p:nvPr/>
        </p:nvSpPr>
        <p:spPr>
          <a:xfrm>
            <a:off x="6807200" y="4953000"/>
            <a:ext cx="1371600" cy="330200"/>
          </a:xfrm>
          <a:prstGeom prst="round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>
                <a:solidFill>
                  <a:srgbClr val="FFFFFF"/>
                </a:solidFill>
                <a:latin typeface="Aptos" panose="020B0004020202020204" pitchFamily="34" charset="0"/>
              </a:rPr>
              <a:t>Logic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429D954-69B2-56FD-F939-03825931CB73}"/>
              </a:ext>
            </a:extLst>
          </p:cNvPr>
          <p:cNvSpPr txBox="1"/>
          <p:nvPr/>
        </p:nvSpPr>
        <p:spPr>
          <a:xfrm>
            <a:off x="6832600" y="5384800"/>
            <a:ext cx="4495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b="1">
                <a:solidFill>
                  <a:srgbClr val="141B2D"/>
                </a:solidFill>
                <a:latin typeface="Aptos" panose="020B0004020202020204" pitchFamily="34" charset="0"/>
              </a:rPr>
              <a:t>Change -&gt; code -&gt; result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3C716649-7F6F-6CE7-0DCA-825BB2EECEFA}"/>
              </a:ext>
            </a:extLst>
          </p:cNvPr>
          <p:cNvSpPr txBox="1"/>
          <p:nvPr/>
        </p:nvSpPr>
        <p:spPr>
          <a:xfrm>
            <a:off x="6832600" y="5715000"/>
            <a:ext cx="44958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>
                <a:solidFill>
                  <a:srgbClr val="68748B"/>
                </a:solidFill>
                <a:latin typeface="Aptos" panose="020B0004020202020204" pitchFamily="34" charset="0"/>
              </a:rPr>
              <a:t>Same structure for the three methods</a:t>
            </a:r>
            <a:endParaRPr lang="pt-BR" sz="1200">
              <a:solidFill>
                <a:srgbClr val="68748B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1144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92D95A1A-2DFB-2947-1597-5F552DBC3AD2}"/>
              </a:ext>
            </a:extLst>
          </p:cNvPr>
          <p:cNvSpPr txBox="1"/>
          <p:nvPr/>
        </p:nvSpPr>
        <p:spPr>
          <a:xfrm>
            <a:off x="660400" y="304800"/>
            <a:ext cx="3048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000" b="1">
                <a:solidFill>
                  <a:srgbClr val="68748B"/>
                </a:solidFill>
                <a:latin typeface="Aptos" panose="020B0004020202020204" pitchFamily="34" charset="0"/>
              </a:rPr>
              <a:t>Method 1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6F42024-84C8-0938-B405-8F2BA7A9B440}"/>
              </a:ext>
            </a:extLst>
          </p:cNvPr>
          <p:cNvSpPr txBox="1"/>
          <p:nvPr/>
        </p:nvSpPr>
        <p:spPr>
          <a:xfrm>
            <a:off x="660400" y="533400"/>
            <a:ext cx="9652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2300" b="1">
                <a:solidFill>
                  <a:srgbClr val="141B2D"/>
                </a:solidFill>
                <a:latin typeface="Aptos Display" panose="020B0004020202020204" pitchFamily="34" charset="0"/>
              </a:rPr>
              <a:t>Data Layout Reorganization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7F06DBB-DAFA-DB6F-48A1-6296C0C0CCFE}"/>
              </a:ext>
            </a:extLst>
          </p:cNvPr>
          <p:cNvSpPr/>
          <p:nvPr/>
        </p:nvSpPr>
        <p:spPr>
          <a:xfrm>
            <a:off x="660400" y="1066800"/>
            <a:ext cx="863600" cy="50800"/>
          </a:xfrm>
          <a:prstGeom prst="rect">
            <a:avLst/>
          </a:prstGeom>
          <a:solidFill>
            <a:srgbClr val="0891B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35109DC9-D8A1-14BE-9D19-ECC39D861659}"/>
              </a:ext>
            </a:extLst>
          </p:cNvPr>
          <p:cNvSpPr/>
          <p:nvPr/>
        </p:nvSpPr>
        <p:spPr>
          <a:xfrm>
            <a:off x="660400" y="1422400"/>
            <a:ext cx="3962400" cy="22352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44E17C7-C639-8BDC-B992-9B5D473935B6}"/>
              </a:ext>
            </a:extLst>
          </p:cNvPr>
          <p:cNvSpPr txBox="1"/>
          <p:nvPr/>
        </p:nvSpPr>
        <p:spPr>
          <a:xfrm>
            <a:off x="838200" y="1574800"/>
            <a:ext cx="36068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600" b="1">
                <a:solidFill>
                  <a:srgbClr val="141B2D"/>
                </a:solidFill>
                <a:latin typeface="Aptos" panose="020B0004020202020204" pitchFamily="34" charset="0"/>
              </a:rPr>
              <a:t>What changed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05F3D9C-BF53-2E5B-CEB3-CB0DCE95FCD7}"/>
              </a:ext>
            </a:extLst>
          </p:cNvPr>
          <p:cNvSpPr txBox="1"/>
          <p:nvPr/>
        </p:nvSpPr>
        <p:spPr>
          <a:xfrm>
            <a:off x="838200" y="1955800"/>
            <a:ext cx="3606800" cy="138499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AoS became SoA: position, state, and seed were separated into arrays.</a:t>
            </a:r>
          </a:p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Movement uses linear indices for terrain and pheromone arrays.</a:t>
            </a:r>
          </a:p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Touched cells are collected first, then updated once in the buffer.</a:t>
            </a:r>
            <a:endParaRPr lang="pt-BR" sz="1500">
              <a:solidFill>
                <a:srgbClr val="384256"/>
              </a:solidFill>
              <a:latin typeface="Aptos" panose="020B0004020202020204" pitchFamily="34" charset="0"/>
            </a:endParaRP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7513A320-D1BA-D585-7F3C-A7AD8551C29F}"/>
              </a:ext>
            </a:extLst>
          </p:cNvPr>
          <p:cNvSpPr/>
          <p:nvPr/>
        </p:nvSpPr>
        <p:spPr>
          <a:xfrm>
            <a:off x="660400" y="3886200"/>
            <a:ext cx="3962400" cy="1752600"/>
          </a:xfrm>
          <a:prstGeom prst="roundRect">
            <a:avLst/>
          </a:prstGeom>
          <a:solidFill>
            <a:srgbClr val="EFF4FA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6911923-C604-B01A-3411-D380F2ECD687}"/>
              </a:ext>
            </a:extLst>
          </p:cNvPr>
          <p:cNvSpPr txBox="1"/>
          <p:nvPr/>
        </p:nvSpPr>
        <p:spPr>
          <a:xfrm>
            <a:off x="838200" y="4038600"/>
            <a:ext cx="36068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300" b="1">
                <a:solidFill>
                  <a:srgbClr val="141B2D"/>
                </a:solidFill>
                <a:latin typeface="Aptos" panose="020B0004020202020204" pitchFamily="34" charset="0"/>
              </a:rPr>
              <a:t>Representative code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13CC983-8E04-53E6-F0F3-A2A3A2C3C5B0}"/>
              </a:ext>
            </a:extLst>
          </p:cNvPr>
          <p:cNvSpPr txBox="1"/>
          <p:nvPr/>
        </p:nvSpPr>
        <p:spPr>
          <a:xfrm>
            <a:off x="838200" y="4343400"/>
            <a:ext cx="3606800" cy="76944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vector&lt;uint32_t&gt; m_land_index, m_pher_index;</a:t>
            </a:r>
          </a:p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vector&lt;uint8_t&gt;  m_loaded;</a:t>
            </a:r>
          </a:p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...</a:t>
            </a:r>
          </a:p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for (size_t idx : m_touched_indices)</a:t>
            </a:r>
          </a:p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    buffer[idx] = compute_mark(map, idx);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B00081FD-9EDE-CAE3-39CB-4D0D934EE287}"/>
              </a:ext>
            </a:extLst>
          </p:cNvPr>
          <p:cNvSpPr/>
          <p:nvPr/>
        </p:nvSpPr>
        <p:spPr>
          <a:xfrm>
            <a:off x="4876800" y="1574800"/>
            <a:ext cx="1930400" cy="13462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70957635-7E04-1F2B-44E7-CF4A81062044}"/>
              </a:ext>
            </a:extLst>
          </p:cNvPr>
          <p:cNvSpPr/>
          <p:nvPr/>
        </p:nvSpPr>
        <p:spPr>
          <a:xfrm>
            <a:off x="5029200" y="1701800"/>
            <a:ext cx="1371600" cy="330200"/>
          </a:xfrm>
          <a:prstGeom prst="round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>
                <a:solidFill>
                  <a:srgbClr val="FFFFFF"/>
                </a:solidFill>
                <a:latin typeface="Aptos" panose="020B0004020202020204" pitchFamily="34" charset="0"/>
              </a:rPr>
              <a:t>Total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103BE50-9087-8A0C-BAFE-90AC65D7D3EB}"/>
              </a:ext>
            </a:extLst>
          </p:cNvPr>
          <p:cNvSpPr txBox="1"/>
          <p:nvPr/>
        </p:nvSpPr>
        <p:spPr>
          <a:xfrm>
            <a:off x="5054600" y="21336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b="1">
                <a:solidFill>
                  <a:srgbClr val="141B2D"/>
                </a:solidFill>
                <a:latin typeface="Aptos" panose="020B0004020202020204" pitchFamily="34" charset="0"/>
              </a:rPr>
              <a:t>0.874 ms/iter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27720DC-1527-AE88-CDAA-3397161B74F2}"/>
              </a:ext>
            </a:extLst>
          </p:cNvPr>
          <p:cNvSpPr txBox="1"/>
          <p:nvPr/>
        </p:nvSpPr>
        <p:spPr>
          <a:xfrm>
            <a:off x="5054600" y="2463800"/>
            <a:ext cx="15748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200">
                <a:solidFill>
                  <a:srgbClr val="68748B"/>
                </a:solidFill>
                <a:latin typeface="Aptos" panose="020B0004020202020204" pitchFamily="34" charset="0"/>
              </a:rPr>
              <a:t>vs 0.904 ms/iter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24C9F47B-BD21-3992-A9AB-575C896683CD}"/>
              </a:ext>
            </a:extLst>
          </p:cNvPr>
          <p:cNvSpPr/>
          <p:nvPr/>
        </p:nvSpPr>
        <p:spPr>
          <a:xfrm>
            <a:off x="7035800" y="1574800"/>
            <a:ext cx="1930400" cy="13462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0B726367-CCAB-0A8D-2E9D-139F30ABD7E8}"/>
              </a:ext>
            </a:extLst>
          </p:cNvPr>
          <p:cNvSpPr/>
          <p:nvPr/>
        </p:nvSpPr>
        <p:spPr>
          <a:xfrm>
            <a:off x="7188200" y="1701800"/>
            <a:ext cx="1371600" cy="330200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>
                <a:solidFill>
                  <a:srgbClr val="FFFFFF"/>
                </a:solidFill>
                <a:latin typeface="Aptos" panose="020B0004020202020204" pitchFamily="34" charset="0"/>
              </a:rPr>
              <a:t>Speedup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B264879-6CE1-04B5-E075-DE1A2217A4D9}"/>
              </a:ext>
            </a:extLst>
          </p:cNvPr>
          <p:cNvSpPr txBox="1"/>
          <p:nvPr/>
        </p:nvSpPr>
        <p:spPr>
          <a:xfrm>
            <a:off x="7213600" y="21336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b="1">
                <a:solidFill>
                  <a:srgbClr val="141B2D"/>
                </a:solidFill>
                <a:latin typeface="Aptos" panose="020B0004020202020204" pitchFamily="34" charset="0"/>
              </a:rPr>
              <a:t>1.03x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223C1DD-A854-749E-9CA3-D99E8E06B26E}"/>
              </a:ext>
            </a:extLst>
          </p:cNvPr>
          <p:cNvSpPr txBox="1"/>
          <p:nvPr/>
        </p:nvSpPr>
        <p:spPr>
          <a:xfrm>
            <a:off x="7213600" y="2463800"/>
            <a:ext cx="15748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200">
                <a:solidFill>
                  <a:srgbClr val="68748B"/>
                </a:solidFill>
                <a:latin typeface="Aptos" panose="020B0004020202020204" pitchFamily="34" charset="0"/>
              </a:rPr>
              <a:t>Small but measurable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042C4F61-BA64-8496-9A48-F5BD0F88E5B7}"/>
              </a:ext>
            </a:extLst>
          </p:cNvPr>
          <p:cNvSpPr/>
          <p:nvPr/>
        </p:nvSpPr>
        <p:spPr>
          <a:xfrm>
            <a:off x="9194800" y="1574800"/>
            <a:ext cx="1930400" cy="13462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3A1D26E3-7F3F-32ED-3DD6-407301C7593C}"/>
              </a:ext>
            </a:extLst>
          </p:cNvPr>
          <p:cNvSpPr/>
          <p:nvPr/>
        </p:nvSpPr>
        <p:spPr>
          <a:xfrm>
            <a:off x="9347200" y="1701800"/>
            <a:ext cx="1371600" cy="330200"/>
          </a:xfrm>
          <a:prstGeom prst="round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>
                <a:solidFill>
                  <a:srgbClr val="FFFFFF"/>
                </a:solidFill>
                <a:latin typeface="Aptos" panose="020B0004020202020204" pitchFamily="34" charset="0"/>
              </a:rPr>
              <a:t>Reading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A68CD7A9-DE4E-9DD3-1C7E-B4F27820053A}"/>
              </a:ext>
            </a:extLst>
          </p:cNvPr>
          <p:cNvSpPr txBox="1"/>
          <p:nvPr/>
        </p:nvSpPr>
        <p:spPr>
          <a:xfrm>
            <a:off x="9372600" y="21336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b="1">
                <a:solidFill>
                  <a:srgbClr val="141B2D"/>
                </a:solidFill>
                <a:latin typeface="Aptos" panose="020B0004020202020204" pitchFamily="34" charset="0"/>
              </a:rPr>
              <a:t>Useful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BBE72415-3031-C129-CE25-B54C8FD0CF48}"/>
              </a:ext>
            </a:extLst>
          </p:cNvPr>
          <p:cNvSpPr txBox="1"/>
          <p:nvPr/>
        </p:nvSpPr>
        <p:spPr>
          <a:xfrm>
            <a:off x="9372600" y="2463800"/>
            <a:ext cx="15748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200">
                <a:solidFill>
                  <a:srgbClr val="68748B"/>
                </a:solidFill>
                <a:latin typeface="Aptos" panose="020B0004020202020204" pitchFamily="34" charset="0"/>
              </a:rPr>
              <a:t>But not transformative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16372A13-7FE9-5EF4-EFA8-E57C16949C31}"/>
              </a:ext>
            </a:extLst>
          </p:cNvPr>
          <p:cNvSpPr txBox="1"/>
          <p:nvPr/>
        </p:nvSpPr>
        <p:spPr>
          <a:xfrm>
            <a:off x="4876800" y="3175000"/>
            <a:ext cx="6248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41B2D"/>
                </a:solidFill>
                <a:latin typeface="Aptos" panose="020B0004020202020204" pitchFamily="34" charset="0"/>
              </a:rPr>
              <a:t>Interpretation: the layout became cleaner, but the movement kernel remained irregular and only weakly vectorizable.</a:t>
            </a:r>
            <a:endParaRPr lang="pt-BR" sz="1500" b="1">
              <a:solidFill>
                <a:srgbClr val="141B2D"/>
              </a:solidFill>
              <a:latin typeface="Aptos" panose="020B0004020202020204" pitchFamily="34" charset="0"/>
            </a:endParaRP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C1980797-9F28-9F1D-4A5F-DD6F1B79F35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3759200"/>
            <a:ext cx="6248400" cy="233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654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D7FA4A11-6E2E-2390-6D32-1CCB7A3AAF20}"/>
              </a:ext>
            </a:extLst>
          </p:cNvPr>
          <p:cNvSpPr txBox="1"/>
          <p:nvPr/>
        </p:nvSpPr>
        <p:spPr>
          <a:xfrm>
            <a:off x="660400" y="304800"/>
            <a:ext cx="3048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000" b="1">
                <a:solidFill>
                  <a:srgbClr val="68748B"/>
                </a:solidFill>
                <a:latin typeface="Aptos" panose="020B0004020202020204" pitchFamily="34" charset="0"/>
              </a:rPr>
              <a:t>Method 2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F7D50EE-11BF-9AAE-6682-B539326B93CC}"/>
              </a:ext>
            </a:extLst>
          </p:cNvPr>
          <p:cNvSpPr txBox="1"/>
          <p:nvPr/>
        </p:nvSpPr>
        <p:spPr>
          <a:xfrm>
            <a:off x="660400" y="533400"/>
            <a:ext cx="9652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2300" b="1">
                <a:solidFill>
                  <a:srgbClr val="141B2D"/>
                </a:solidFill>
                <a:latin typeface="Aptos Display" panose="020B0004020202020204" pitchFamily="34" charset="0"/>
              </a:rPr>
              <a:t>OpenMP Parallelization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035C538A-5ADF-9515-42FD-1EF5FBDA5953}"/>
              </a:ext>
            </a:extLst>
          </p:cNvPr>
          <p:cNvSpPr/>
          <p:nvPr/>
        </p:nvSpPr>
        <p:spPr>
          <a:xfrm>
            <a:off x="660400" y="1066800"/>
            <a:ext cx="863600" cy="50800"/>
          </a:xfrm>
          <a:prstGeom prst="rect">
            <a:avLst/>
          </a:prstGeom>
          <a:solidFill>
            <a:srgbClr val="0891B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B757F74-978B-D0E1-3BC4-C0CA44A37CC2}"/>
              </a:ext>
            </a:extLst>
          </p:cNvPr>
          <p:cNvSpPr/>
          <p:nvPr/>
        </p:nvSpPr>
        <p:spPr>
          <a:xfrm>
            <a:off x="660400" y="1422400"/>
            <a:ext cx="3708400" cy="21336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1DC0929-599E-0E5D-A547-2C377D31C8F6}"/>
              </a:ext>
            </a:extLst>
          </p:cNvPr>
          <p:cNvSpPr txBox="1"/>
          <p:nvPr/>
        </p:nvSpPr>
        <p:spPr>
          <a:xfrm>
            <a:off x="838200" y="1574800"/>
            <a:ext cx="33528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600" b="1">
                <a:solidFill>
                  <a:srgbClr val="141B2D"/>
                </a:solidFill>
                <a:latin typeface="Aptos" panose="020B0004020202020204" pitchFamily="34" charset="0"/>
              </a:rPr>
              <a:t>What changed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870E570-FDB4-7D7C-99CE-C92C842012EE}"/>
              </a:ext>
            </a:extLst>
          </p:cNvPr>
          <p:cNvSpPr txBox="1"/>
          <p:nvPr/>
        </p:nvSpPr>
        <p:spPr>
          <a:xfrm>
            <a:off x="838200" y="1955800"/>
            <a:ext cx="3352800" cy="11541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The final version parallelized ant movement, not only evaporation.</a:t>
            </a:r>
          </a:p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Thread-local mark buffers removed races in the pheromone update.</a:t>
            </a:r>
          </a:p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The merge step remained deterministic.</a:t>
            </a:r>
            <a:endParaRPr lang="pt-BR" sz="1500">
              <a:solidFill>
                <a:srgbClr val="384256"/>
              </a:solidFill>
              <a:latin typeface="Aptos" panose="020B0004020202020204" pitchFamily="34" charset="0"/>
            </a:endParaRP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A158DB3E-3383-78EE-AA62-F83F7639E3CC}"/>
              </a:ext>
            </a:extLst>
          </p:cNvPr>
          <p:cNvSpPr/>
          <p:nvPr/>
        </p:nvSpPr>
        <p:spPr>
          <a:xfrm>
            <a:off x="660400" y="3810000"/>
            <a:ext cx="3708400" cy="1854200"/>
          </a:xfrm>
          <a:prstGeom prst="roundRect">
            <a:avLst/>
          </a:prstGeom>
          <a:solidFill>
            <a:srgbClr val="EFF4FA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A7A0E71-B6BF-73BC-0AD7-261EDD1EC4BC}"/>
              </a:ext>
            </a:extLst>
          </p:cNvPr>
          <p:cNvSpPr txBox="1"/>
          <p:nvPr/>
        </p:nvSpPr>
        <p:spPr>
          <a:xfrm>
            <a:off x="838200" y="3962400"/>
            <a:ext cx="33528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300" b="1">
                <a:solidFill>
                  <a:srgbClr val="141B2D"/>
                </a:solidFill>
                <a:latin typeface="Aptos" panose="020B0004020202020204" pitchFamily="34" charset="0"/>
              </a:rPr>
              <a:t>Representative code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90B7495-B8B4-50E0-BB11-1C16BD918C03}"/>
              </a:ext>
            </a:extLst>
          </p:cNvPr>
          <p:cNvSpPr txBox="1"/>
          <p:nvPr/>
        </p:nvSpPr>
        <p:spPr>
          <a:xfrm>
            <a:off x="838200" y="4267200"/>
            <a:ext cx="3352800" cy="107721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#pragma omp parallel reduction(+ : food_delta)</a:t>
            </a:r>
          </a:p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  ants[i].advance_collect(...);</a:t>
            </a:r>
          </a:p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  local_marks.values[idx] = phen.compute_mark(pos);</a:t>
            </a:r>
          </a:p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merge thread-local marks into the global buffer;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8FC07E91-566A-93CD-6ACB-A45DF11A21A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400" y="1346200"/>
            <a:ext cx="6680200" cy="3987800"/>
          </a:xfrm>
          <a:prstGeom prst="rect">
            <a:avLst/>
          </a:prstGeom>
        </p:spPr>
      </p:pic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7DC42373-2634-55E7-20F5-B23363F12B93}"/>
              </a:ext>
            </a:extLst>
          </p:cNvPr>
          <p:cNvSpPr/>
          <p:nvPr/>
        </p:nvSpPr>
        <p:spPr>
          <a:xfrm>
            <a:off x="4724400" y="5562600"/>
            <a:ext cx="6527800" cy="431800"/>
          </a:xfrm>
          <a:prstGeom prst="roundRect">
            <a:avLst/>
          </a:prstGeom>
          <a:solidFill>
            <a:srgbClr val="E8F7EC"/>
          </a:solidFill>
          <a:ln>
            <a:solidFill>
              <a:srgbClr val="BBF7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141B2D"/>
                </a:solidFill>
                <a:latin typeface="Aptos" panose="020B0004020202020204" pitchFamily="34" charset="0"/>
              </a:rPr>
              <a:t>Best result: 0.412 ms/iter, corresponding to about 2.29x speedup.</a:t>
            </a:r>
            <a:endParaRPr lang="pt-BR" sz="1400" b="1">
              <a:solidFill>
                <a:srgbClr val="141B2D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9138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CCD16EAD-EA08-87E3-0715-090FD1A4DDA4}"/>
              </a:ext>
            </a:extLst>
          </p:cNvPr>
          <p:cNvSpPr txBox="1"/>
          <p:nvPr/>
        </p:nvSpPr>
        <p:spPr>
          <a:xfrm>
            <a:off x="660400" y="304800"/>
            <a:ext cx="3048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000" b="1">
                <a:solidFill>
                  <a:srgbClr val="68748B"/>
                </a:solidFill>
                <a:latin typeface="Aptos" panose="020B0004020202020204" pitchFamily="34" charset="0"/>
              </a:rPr>
              <a:t>Method 3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A3A98CA-5C4D-569E-8063-836BB90C6A73}"/>
              </a:ext>
            </a:extLst>
          </p:cNvPr>
          <p:cNvSpPr txBox="1"/>
          <p:nvPr/>
        </p:nvSpPr>
        <p:spPr>
          <a:xfrm>
            <a:off x="660400" y="533400"/>
            <a:ext cx="9652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2300" b="1">
                <a:solidFill>
                  <a:srgbClr val="141B2D"/>
                </a:solidFill>
                <a:latin typeface="Aptos Display" panose="020B0004020202020204" pitchFamily="34" charset="0"/>
              </a:rPr>
              <a:t>MPI Parallelization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54E880C-030A-DFE3-C9C4-80AF5D080AD3}"/>
              </a:ext>
            </a:extLst>
          </p:cNvPr>
          <p:cNvSpPr/>
          <p:nvPr/>
        </p:nvSpPr>
        <p:spPr>
          <a:xfrm>
            <a:off x="660400" y="1066800"/>
            <a:ext cx="863600" cy="50800"/>
          </a:xfrm>
          <a:prstGeom prst="rect">
            <a:avLst/>
          </a:prstGeom>
          <a:solidFill>
            <a:srgbClr val="0891B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3178D5EF-AF21-57BF-906A-98BE472519C7}"/>
              </a:ext>
            </a:extLst>
          </p:cNvPr>
          <p:cNvSpPr/>
          <p:nvPr/>
        </p:nvSpPr>
        <p:spPr>
          <a:xfrm>
            <a:off x="660400" y="1422400"/>
            <a:ext cx="3708400" cy="22352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DAF27FB-EE4D-E970-641D-464304B59C7C}"/>
              </a:ext>
            </a:extLst>
          </p:cNvPr>
          <p:cNvSpPr txBox="1"/>
          <p:nvPr/>
        </p:nvSpPr>
        <p:spPr>
          <a:xfrm>
            <a:off x="838200" y="1574800"/>
            <a:ext cx="33528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600" b="1">
                <a:solidFill>
                  <a:srgbClr val="141B2D"/>
                </a:solidFill>
                <a:latin typeface="Aptos" panose="020B0004020202020204" pitchFamily="34" charset="0"/>
              </a:rPr>
              <a:t>What changed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E890169-FB71-DE8B-FB3E-3517D73B8EDE}"/>
              </a:ext>
            </a:extLst>
          </p:cNvPr>
          <p:cNvSpPr txBox="1"/>
          <p:nvPr/>
        </p:nvSpPr>
        <p:spPr>
          <a:xfrm>
            <a:off x="838200" y="1955800"/>
            <a:ext cx="3352800" cy="138499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Each process owns only a subset of ants, but keeps the full map.</a:t>
            </a:r>
          </a:p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The pheromone buffer is synchronized with MPI_Allreduce.</a:t>
            </a:r>
          </a:p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Evaporation is distributed by stripes, followed by a second synchronization.</a:t>
            </a:r>
            <a:endParaRPr lang="pt-BR" sz="1500">
              <a:solidFill>
                <a:srgbClr val="384256"/>
              </a:solidFill>
              <a:latin typeface="Aptos" panose="020B0004020202020204" pitchFamily="34" charset="0"/>
            </a:endParaRP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3E1FF263-A43C-169B-2948-76625698707B}"/>
              </a:ext>
            </a:extLst>
          </p:cNvPr>
          <p:cNvSpPr/>
          <p:nvPr/>
        </p:nvSpPr>
        <p:spPr>
          <a:xfrm>
            <a:off x="660400" y="3886200"/>
            <a:ext cx="3708400" cy="1778000"/>
          </a:xfrm>
          <a:prstGeom prst="roundRect">
            <a:avLst/>
          </a:prstGeom>
          <a:solidFill>
            <a:srgbClr val="EFF4FA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90FAF89-9790-8DD6-8DAC-C97590E8812B}"/>
              </a:ext>
            </a:extLst>
          </p:cNvPr>
          <p:cNvSpPr txBox="1"/>
          <p:nvPr/>
        </p:nvSpPr>
        <p:spPr>
          <a:xfrm>
            <a:off x="838200" y="4038600"/>
            <a:ext cx="33528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300" b="1">
                <a:solidFill>
                  <a:srgbClr val="141B2D"/>
                </a:solidFill>
                <a:latin typeface="Aptos" panose="020B0004020202020204" pitchFamily="34" charset="0"/>
              </a:rPr>
              <a:t>Representative code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FB4F3B2-35D6-8727-C20B-5260DD5AC145}"/>
              </a:ext>
            </a:extLst>
          </p:cNvPr>
          <p:cNvSpPr txBox="1"/>
          <p:nvPr/>
        </p:nvSpPr>
        <p:spPr>
          <a:xfrm>
            <a:off x="838200" y="4343400"/>
            <a:ext cx="3352800" cy="92333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for (...) {</a:t>
            </a:r>
          </a:p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  for (auto&amp; a : ants) a.advance(...);</a:t>
            </a:r>
          </a:p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  MPI_Allreduce(..., MPI_MAX, ...);</a:t>
            </a:r>
          </a:p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  phen.do_evaporation_stripe(...);</a:t>
            </a:r>
          </a:p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  MPI_Allreduce(..., MPI_MIN, ...);</a:t>
            </a:r>
          </a:p>
          <a:p>
            <a:r>
              <a:rPr lang="pt-BR" sz="1000">
                <a:solidFill>
                  <a:srgbClr val="384256"/>
                </a:solidFill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795CE7F4-0E00-A035-294D-EFBEB7175AB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400" y="1346200"/>
            <a:ext cx="6680200" cy="3987800"/>
          </a:xfrm>
          <a:prstGeom prst="rect">
            <a:avLst/>
          </a:prstGeom>
        </p:spPr>
      </p:pic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0424FBBF-C9C5-D73E-CDF6-8B81B3B51C3B}"/>
              </a:ext>
            </a:extLst>
          </p:cNvPr>
          <p:cNvSpPr/>
          <p:nvPr/>
        </p:nvSpPr>
        <p:spPr>
          <a:xfrm>
            <a:off x="4724400" y="5562600"/>
            <a:ext cx="6527800" cy="431800"/>
          </a:xfrm>
          <a:prstGeom prst="roundRect">
            <a:avLst/>
          </a:prstGeom>
          <a:solidFill>
            <a:srgbClr val="FFF4EA"/>
          </a:solidFill>
          <a:ln>
            <a:solidFill>
              <a:srgbClr val="FED7A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141B2D"/>
                </a:solidFill>
                <a:latin typeface="Aptos" panose="020B0004020202020204" pitchFamily="34" charset="0"/>
              </a:rPr>
              <a:t>Implemented: MPI approach 1. Approach 2 is discussed as a strategy in the report; the bonus was not pursued.</a:t>
            </a:r>
            <a:endParaRPr lang="pt-BR" sz="1400" b="1">
              <a:solidFill>
                <a:srgbClr val="141B2D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7172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E69BE27B-1BB9-0484-4A3A-ACD3EE3DAD21}"/>
              </a:ext>
            </a:extLst>
          </p:cNvPr>
          <p:cNvSpPr txBox="1"/>
          <p:nvPr/>
        </p:nvSpPr>
        <p:spPr>
          <a:xfrm>
            <a:off x="660400" y="304800"/>
            <a:ext cx="3048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000" b="1">
                <a:solidFill>
                  <a:srgbClr val="68748B"/>
                </a:solidFill>
                <a:latin typeface="Aptos" panose="020B0004020202020204" pitchFamily="34" charset="0"/>
              </a:rPr>
              <a:t>Comparison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F297B5E-A7F8-84FD-4EA2-35426AB881F4}"/>
              </a:ext>
            </a:extLst>
          </p:cNvPr>
          <p:cNvSpPr txBox="1"/>
          <p:nvPr/>
        </p:nvSpPr>
        <p:spPr>
          <a:xfrm>
            <a:off x="660400" y="533400"/>
            <a:ext cx="9652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300" b="1">
                <a:solidFill>
                  <a:srgbClr val="141B2D"/>
                </a:solidFill>
                <a:latin typeface="Aptos Display" panose="020B0004020202020204" pitchFamily="34" charset="0"/>
              </a:rPr>
              <a:t>Synthesis in the Common Workload</a:t>
            </a:r>
            <a:endParaRPr lang="pt-BR" sz="2300" b="1">
              <a:solidFill>
                <a:srgbClr val="141B2D"/>
              </a:solidFill>
              <a:latin typeface="Aptos Display" panose="020B0004020202020204" pitchFamily="34" charset="0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CAC55DA-471C-20AF-6432-D69FB4244D7F}"/>
              </a:ext>
            </a:extLst>
          </p:cNvPr>
          <p:cNvSpPr/>
          <p:nvPr/>
        </p:nvSpPr>
        <p:spPr>
          <a:xfrm>
            <a:off x="660400" y="1066800"/>
            <a:ext cx="863600" cy="50800"/>
          </a:xfrm>
          <a:prstGeom prst="rect">
            <a:avLst/>
          </a:prstGeom>
          <a:solidFill>
            <a:srgbClr val="0891B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3C390A9-42BC-A7E1-4703-80C3BB4CED0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600" y="1422400"/>
            <a:ext cx="8128000" cy="4064000"/>
          </a:xfrm>
          <a:prstGeom prst="rect">
            <a:avLst/>
          </a:prstGeom>
        </p:spPr>
      </p:pic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E03530E7-D983-21FC-979E-BEA90183699B}"/>
              </a:ext>
            </a:extLst>
          </p:cNvPr>
          <p:cNvSpPr/>
          <p:nvPr/>
        </p:nvSpPr>
        <p:spPr>
          <a:xfrm>
            <a:off x="9398000" y="1600200"/>
            <a:ext cx="1905000" cy="13208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BFE7BFE-340F-FE88-5E1A-E048EACD9158}"/>
              </a:ext>
            </a:extLst>
          </p:cNvPr>
          <p:cNvSpPr/>
          <p:nvPr/>
        </p:nvSpPr>
        <p:spPr>
          <a:xfrm>
            <a:off x="9550400" y="1727200"/>
            <a:ext cx="1371600" cy="330200"/>
          </a:xfrm>
          <a:prstGeom prst="round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>
                <a:solidFill>
                  <a:srgbClr val="FFFFFF"/>
                </a:solidFill>
                <a:latin typeface="Aptos" panose="020B0004020202020204" pitchFamily="34" charset="0"/>
              </a:rPr>
              <a:t>SoA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76DA45A4-4F0E-69CF-3202-774CCD871AC1}"/>
              </a:ext>
            </a:extLst>
          </p:cNvPr>
          <p:cNvSpPr txBox="1"/>
          <p:nvPr/>
        </p:nvSpPr>
        <p:spPr>
          <a:xfrm>
            <a:off x="9575800" y="2159000"/>
            <a:ext cx="154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b="1">
                <a:solidFill>
                  <a:srgbClr val="141B2D"/>
                </a:solidFill>
                <a:latin typeface="Aptos" panose="020B0004020202020204" pitchFamily="34" charset="0"/>
              </a:rPr>
              <a:t>1.03x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1947EA5-48D3-7104-9AF2-C6FB7D50795A}"/>
              </a:ext>
            </a:extLst>
          </p:cNvPr>
          <p:cNvSpPr txBox="1"/>
          <p:nvPr/>
        </p:nvSpPr>
        <p:spPr>
          <a:xfrm>
            <a:off x="9575800" y="2489200"/>
            <a:ext cx="15494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200">
                <a:solidFill>
                  <a:srgbClr val="68748B"/>
                </a:solidFill>
                <a:latin typeface="Aptos" panose="020B0004020202020204" pitchFamily="34" charset="0"/>
              </a:rPr>
              <a:t>Small gain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27FA9F9E-C4E8-671F-8CCD-75E27E65EAD3}"/>
              </a:ext>
            </a:extLst>
          </p:cNvPr>
          <p:cNvSpPr/>
          <p:nvPr/>
        </p:nvSpPr>
        <p:spPr>
          <a:xfrm>
            <a:off x="9398000" y="3124200"/>
            <a:ext cx="1905000" cy="13208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033FE184-73DD-7AFD-08D4-26465A484710}"/>
              </a:ext>
            </a:extLst>
          </p:cNvPr>
          <p:cNvSpPr/>
          <p:nvPr/>
        </p:nvSpPr>
        <p:spPr>
          <a:xfrm>
            <a:off x="9550400" y="3251200"/>
            <a:ext cx="1371600" cy="330200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>
                <a:solidFill>
                  <a:srgbClr val="FFFFFF"/>
                </a:solidFill>
                <a:latin typeface="Aptos" panose="020B0004020202020204" pitchFamily="34" charset="0"/>
              </a:rPr>
              <a:t>OpenMP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34D4FC4-307F-EE45-F383-DBC923814F54}"/>
              </a:ext>
            </a:extLst>
          </p:cNvPr>
          <p:cNvSpPr txBox="1"/>
          <p:nvPr/>
        </p:nvSpPr>
        <p:spPr>
          <a:xfrm>
            <a:off x="9575800" y="3683000"/>
            <a:ext cx="154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b="1">
                <a:solidFill>
                  <a:srgbClr val="141B2D"/>
                </a:solidFill>
                <a:latin typeface="Aptos" panose="020B0004020202020204" pitchFamily="34" charset="0"/>
              </a:rPr>
              <a:t>2.29x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1ECB22F-60D8-E294-BF69-224617BBC6CE}"/>
              </a:ext>
            </a:extLst>
          </p:cNvPr>
          <p:cNvSpPr txBox="1"/>
          <p:nvPr/>
        </p:nvSpPr>
        <p:spPr>
          <a:xfrm>
            <a:off x="9575800" y="4013200"/>
            <a:ext cx="15494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200">
                <a:solidFill>
                  <a:srgbClr val="68748B"/>
                </a:solidFill>
                <a:latin typeface="Aptos" panose="020B0004020202020204" pitchFamily="34" charset="0"/>
              </a:rPr>
              <a:t>Best practical result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326284D6-3725-FC76-48AD-ADD29AE7ECCD}"/>
              </a:ext>
            </a:extLst>
          </p:cNvPr>
          <p:cNvSpPr/>
          <p:nvPr/>
        </p:nvSpPr>
        <p:spPr>
          <a:xfrm>
            <a:off x="9398000" y="4648200"/>
            <a:ext cx="1905000" cy="13208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2EEA4B33-4F6C-94C0-742D-6112F5683577}"/>
              </a:ext>
            </a:extLst>
          </p:cNvPr>
          <p:cNvSpPr/>
          <p:nvPr/>
        </p:nvSpPr>
        <p:spPr>
          <a:xfrm>
            <a:off x="9550400" y="4775200"/>
            <a:ext cx="1371600" cy="330200"/>
          </a:xfrm>
          <a:prstGeom prst="round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>
                <a:solidFill>
                  <a:srgbClr val="FFFFFF"/>
                </a:solidFill>
                <a:latin typeface="Aptos" panose="020B0004020202020204" pitchFamily="34" charset="0"/>
              </a:rPr>
              <a:t>MPI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3DD99A4-122C-BA20-7105-7279D1BFA706}"/>
              </a:ext>
            </a:extLst>
          </p:cNvPr>
          <p:cNvSpPr txBox="1"/>
          <p:nvPr/>
        </p:nvSpPr>
        <p:spPr>
          <a:xfrm>
            <a:off x="9575800" y="5207000"/>
            <a:ext cx="154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b="1">
                <a:solidFill>
                  <a:srgbClr val="141B2D"/>
                </a:solidFill>
                <a:latin typeface="Aptos" panose="020B0004020202020204" pitchFamily="34" charset="0"/>
              </a:rPr>
              <a:t>&lt; 1x at 5k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55F2C34-24AA-435E-5604-4FDE68712555}"/>
              </a:ext>
            </a:extLst>
          </p:cNvPr>
          <p:cNvSpPr txBox="1"/>
          <p:nvPr/>
        </p:nvSpPr>
        <p:spPr>
          <a:xfrm>
            <a:off x="9575800" y="5537200"/>
            <a:ext cx="154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200">
                <a:solidFill>
                  <a:srgbClr val="68748B"/>
                </a:solidFill>
                <a:latin typeface="Aptos" panose="020B0004020202020204" pitchFamily="34" charset="0"/>
              </a:rPr>
              <a:t>Needs larger workloads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944F4D2E-6A6F-DB8E-A58E-61098D3FB639}"/>
              </a:ext>
            </a:extLst>
          </p:cNvPr>
          <p:cNvSpPr txBox="1"/>
          <p:nvPr/>
        </p:nvSpPr>
        <p:spPr>
          <a:xfrm>
            <a:off x="787400" y="5689600"/>
            <a:ext cx="8255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 b="1">
                <a:solidFill>
                  <a:srgbClr val="141B2D"/>
                </a:solidFill>
                <a:latin typeface="Aptos" panose="020B0004020202020204" pitchFamily="34" charset="0"/>
              </a:rPr>
              <a:t>OpenMP is the most effective optimization in the normal regime, while MPI only becomes attractive when the workload is much larger.</a:t>
            </a:r>
            <a:endParaRPr lang="pt-BR" sz="1400" b="1">
              <a:solidFill>
                <a:srgbClr val="141B2D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756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EDF5AD5D-037C-07C2-41B4-6F54A692CB28}"/>
              </a:ext>
            </a:extLst>
          </p:cNvPr>
          <p:cNvSpPr txBox="1"/>
          <p:nvPr/>
        </p:nvSpPr>
        <p:spPr>
          <a:xfrm>
            <a:off x="660400" y="304800"/>
            <a:ext cx="3048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000" b="1">
                <a:solidFill>
                  <a:srgbClr val="68748B"/>
                </a:solidFill>
                <a:latin typeface="Aptos" panose="020B0004020202020204" pitchFamily="34" charset="0"/>
              </a:rPr>
              <a:t>Takeaways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5A5C9E3-6137-77DF-F9AB-BCAAB1537105}"/>
              </a:ext>
            </a:extLst>
          </p:cNvPr>
          <p:cNvSpPr txBox="1"/>
          <p:nvPr/>
        </p:nvSpPr>
        <p:spPr>
          <a:xfrm>
            <a:off x="660400" y="533400"/>
            <a:ext cx="9652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2300" b="1">
                <a:solidFill>
                  <a:srgbClr val="141B2D"/>
                </a:solidFill>
                <a:latin typeface="Aptos Display" panose="020B0004020202020204" pitchFamily="34" charset="0"/>
              </a:rPr>
              <a:t>Conclusion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87FEB67-1920-B2C5-1943-8591A8F916CC}"/>
              </a:ext>
            </a:extLst>
          </p:cNvPr>
          <p:cNvSpPr/>
          <p:nvPr/>
        </p:nvSpPr>
        <p:spPr>
          <a:xfrm>
            <a:off x="660400" y="1066800"/>
            <a:ext cx="863600" cy="50800"/>
          </a:xfrm>
          <a:prstGeom prst="rect">
            <a:avLst/>
          </a:prstGeom>
          <a:solidFill>
            <a:srgbClr val="0891B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5A1EBF2E-CE92-78AF-ADF3-8B12B169CB49}"/>
              </a:ext>
            </a:extLst>
          </p:cNvPr>
          <p:cNvSpPr/>
          <p:nvPr/>
        </p:nvSpPr>
        <p:spPr>
          <a:xfrm>
            <a:off x="838200" y="1600200"/>
            <a:ext cx="10414000" cy="38608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7A0714F-8AA1-E4E0-5EF9-CF2B4FBA82BC}"/>
              </a:ext>
            </a:extLst>
          </p:cNvPr>
          <p:cNvSpPr txBox="1"/>
          <p:nvPr/>
        </p:nvSpPr>
        <p:spPr>
          <a:xfrm>
            <a:off x="1016000" y="1752600"/>
            <a:ext cx="10058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600" b="1">
                <a:solidFill>
                  <a:srgbClr val="141B2D"/>
                </a:solidFill>
                <a:latin typeface="Aptos" panose="020B0004020202020204" pitchFamily="34" charset="0"/>
              </a:rPr>
              <a:t>Main conclusions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59FF947-0469-ECB0-E3E8-2BE6801A31EA}"/>
              </a:ext>
            </a:extLst>
          </p:cNvPr>
          <p:cNvSpPr txBox="1"/>
          <p:nvPr/>
        </p:nvSpPr>
        <p:spPr>
          <a:xfrm>
            <a:off x="1016000" y="2133600"/>
            <a:ext cx="10058400" cy="161582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The first requirement was correctness: seed initialization and pheromone buffer refresh had to be fixed before any serious comparison.</a:t>
            </a:r>
          </a:p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SoA improved the code organization and produced a small gain, but it did not change the fundamental behavior of the movement kernel.</a:t>
            </a:r>
          </a:p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OpenMP produced the strongest result because it directly targeted the dominant phase of the simulation.</a:t>
            </a:r>
          </a:p>
          <a:p>
            <a:r>
              <a:rPr lang="en-US" sz="1500">
                <a:solidFill>
                  <a:srgbClr val="384256"/>
                </a:solidFill>
                <a:latin typeface="Aptos" panose="020B0004020202020204" pitchFamily="34" charset="0"/>
              </a:rPr>
              <a:t>- MPI approach 1 was implemented and measured. MPI approach 2 was covered as a proposed strategy, which satisfies the non-bonus requirement of the assignment.</a:t>
            </a:r>
            <a:endParaRPr lang="pt-BR" sz="1500">
              <a:solidFill>
                <a:srgbClr val="384256"/>
              </a:solidFill>
              <a:latin typeface="Aptos" panose="020B0004020202020204" pitchFamily="34" charset="0"/>
            </a:endParaRP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2FFE5D1-A69C-DEF9-4DA4-17A6246F3D58}"/>
              </a:ext>
            </a:extLst>
          </p:cNvPr>
          <p:cNvSpPr/>
          <p:nvPr/>
        </p:nvSpPr>
        <p:spPr>
          <a:xfrm>
            <a:off x="838200" y="5689600"/>
            <a:ext cx="10414000" cy="4318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141B2D"/>
                </a:solidFill>
                <a:latin typeface="Aptos" panose="020B0004020202020204" pitchFamily="34" charset="0"/>
              </a:rPr>
              <a:t>OpenMP gave the best balance between implementation effort and performance gain.</a:t>
            </a:r>
            <a:endParaRPr lang="pt-BR" sz="1400" b="1">
              <a:solidFill>
                <a:srgbClr val="141B2D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80137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657</Words>
  <Application>Microsoft Office PowerPoint</Application>
  <PresentationFormat>Personalizar</PresentationFormat>
  <Paragraphs>95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Consolas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Joab Da Silva Bezerra</dc:creator>
  <cp:lastModifiedBy>Joab Da Silva Bezerra</cp:lastModifiedBy>
  <cp:revision>1</cp:revision>
  <dcterms:created xsi:type="dcterms:W3CDTF">2026-03-15T03:03:53Z</dcterms:created>
  <dcterms:modified xsi:type="dcterms:W3CDTF">2026-03-15T03:03:53Z</dcterms:modified>
</cp:coreProperties>
</file>