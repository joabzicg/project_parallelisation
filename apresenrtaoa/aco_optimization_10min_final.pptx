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010E5-7F67-1281-A188-9C51B9B86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3119FC-0E79-4A24-F561-88E5E4B5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D89210-9436-474A-D308-39F2BE36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B02705-DB7B-DB75-88B4-598DB8AA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780F41-B6CA-1704-189D-F4BAF07A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42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40746-F08A-8533-E538-762708BF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7BFB3E-ED4F-3B73-7F74-A9DE76D39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19BBA7-6C99-4EB6-E58C-38CEE8364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B4A4ED-CECE-3F5B-9306-E5D458D1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862272-5580-E8E8-2BAB-BD4EDC77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2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93297-73C7-8E1D-08B9-0F2DAD8D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F074F5-AA34-5A1B-0D41-F4C26A80A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95D655-F789-D7F4-E852-9EBCDF36E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12545B-54AE-38C9-8A5B-8C201820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2C6D12-0665-1577-3643-2E482913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4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6D60C-F3B3-D656-5729-C1671DD3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B7B2BD-4BA1-C637-937C-8B01C695C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1038C98-C0D0-8F0A-0961-3B716F2C8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CCFD7-9995-717F-AA13-8E41D826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503AC4-A210-F2C4-C3DE-5A18CCCE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E396F4-4870-A611-CC0E-ED447FAE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22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F5C61-65F2-71E1-974A-5A55CD40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8EB460-F5F5-62B1-93AE-48777B1D4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329A2D-F137-436F-6CCA-36B902AF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484F009-B357-3845-087E-492FF771A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AA6DC0-764F-D9E3-CDB6-019BAD2A8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FE39897-CF37-2A26-BEC8-3766A991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576E2E-F8C1-AA2E-6D86-5C2FA8C44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89653D-913B-DDC0-ED6E-5B83E375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30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900EF-DC48-997E-4A79-FBA3133B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26E7E8-91DA-0B71-B003-0419AE8D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0AC1726-5FB3-A98C-F8F5-B46A98489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849AE1-5248-AD97-91D0-4C68890C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77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733000-DD66-8034-FEED-919C623A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97FAD8-2A89-68B4-F728-9B73576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FF9CF7-7951-9938-8E9E-BDE6DB5D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59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B8813-45C3-961B-F878-E06047FE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0FD7AB-2F4A-B2A1-CD57-265EED0FA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784982-0B06-C029-FCE8-A54E56681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3B4DDA-D4BB-53C4-F983-093D1AF6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E84478-9342-9A26-4F14-1BB677A5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AE8820-C864-5583-003A-0E6FD13B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88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E5E7C-08A5-0227-73F9-249A8342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70B4B04-2E5D-EECF-51FD-FF17D93FB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72965B-489F-D532-F64C-543FB2086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B02A39-C58F-9C8F-01CE-E7F88FF6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F83FA0-72D7-2AE3-9910-87456EB8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47B92A-C344-79D2-5EC3-9B5122E7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04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7CF08-4D6D-22D0-7C32-75AC6EE4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370E0A-3386-A55B-F38E-4DD41518A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F7F2AB-EDE1-3C8A-0E7E-26591D48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CF5782-AD1A-062E-7946-CE0BE67F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FA4248-FAA9-2BD9-775C-5358CD8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08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5E1745-0CA5-3F61-ECCE-7863578C72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17982B-11FD-A5BF-EC34-E730F8D1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D2FD74-2C97-0243-7D0F-992994AD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8A44D-6420-80BF-BDD2-7AC0AB75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16EC5D-3DE1-84CB-D23C-1B67E7C8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13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19DC87A-5BB8-8148-3DA9-F3D7282F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756980-5D94-21C4-2590-ABC53DAF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C82D7B-00FB-4728-D7DC-9146DA205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082D5-31E0-4D68-8B60-11A9F2FB96FD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E8D3DF-499E-015C-C7ED-A9C42BBBA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390CCB-9617-0260-24DA-78478EEDD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7AB697-667C-4B52-A130-5E5BC8EBE4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30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A7C151E-12E9-FFE4-3F51-CC3C27595DED}"/>
              </a:ext>
            </a:extLst>
          </p:cNvPr>
          <p:cNvSpPr/>
          <p:nvPr/>
        </p:nvSpPr>
        <p:spPr>
          <a:xfrm>
            <a:off x="609600" y="812800"/>
            <a:ext cx="10922000" cy="5232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7B2A92-B5D4-69D4-6129-9C2FD45DD576}"/>
              </a:ext>
            </a:extLst>
          </p:cNvPr>
          <p:cNvSpPr txBox="1"/>
          <p:nvPr/>
        </p:nvSpPr>
        <p:spPr>
          <a:xfrm>
            <a:off x="914400" y="1143000"/>
            <a:ext cx="850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41B2D"/>
                </a:solidFill>
                <a:latin typeface="Aptos Display" panose="020B0004020202020204" pitchFamily="34" charset="0"/>
              </a:rPr>
              <a:t>Optimization of an Ant Colony Simulation</a:t>
            </a:r>
            <a:endParaRPr lang="pt-BR" sz="2700" b="1">
              <a:solidFill>
                <a:srgbClr val="141B2D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B9594A-0EFF-2755-56F3-465BF7D37321}"/>
              </a:ext>
            </a:extLst>
          </p:cNvPr>
          <p:cNvSpPr txBox="1"/>
          <p:nvPr/>
        </p:nvSpPr>
        <p:spPr>
          <a:xfrm>
            <a:off x="914400" y="1841500"/>
            <a:ext cx="787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384256"/>
                </a:solidFill>
                <a:latin typeface="Aptos" panose="020B0004020202020204" pitchFamily="34" charset="0"/>
              </a:rPr>
              <a:t>Data layout reorganization, OpenMP parallelization, and MPI parallelization</a:t>
            </a:r>
            <a:endParaRPr lang="pt-BR" sz="17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587C3C-2A08-8C9D-7F01-F62F527EDF2B}"/>
              </a:ext>
            </a:extLst>
          </p:cNvPr>
          <p:cNvSpPr txBox="1"/>
          <p:nvPr/>
        </p:nvSpPr>
        <p:spPr>
          <a:xfrm>
            <a:off x="914400" y="2438400"/>
            <a:ext cx="8636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68748B"/>
                </a:solidFill>
                <a:latin typeface="Aptos" panose="020B0004020202020204" pitchFamily="34" charset="0"/>
              </a:rPr>
              <a:t>Objective: reduce total compute time while preserving the simulation model and benchmark fairness.</a:t>
            </a:r>
            <a:endParaRPr lang="pt-BR" sz="1600">
              <a:solidFill>
                <a:srgbClr val="68748B"/>
              </a:solidFill>
              <a:latin typeface="Aptos" panose="020B000402020202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7A73C1F-D14B-1146-D5D7-623B5FA10231}"/>
              </a:ext>
            </a:extLst>
          </p:cNvPr>
          <p:cNvSpPr/>
          <p:nvPr/>
        </p:nvSpPr>
        <p:spPr>
          <a:xfrm>
            <a:off x="914400" y="3987800"/>
            <a:ext cx="1219200" cy="5588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SoA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8A45263-7152-C802-A3EB-FE1CD58D4A61}"/>
              </a:ext>
            </a:extLst>
          </p:cNvPr>
          <p:cNvSpPr/>
          <p:nvPr/>
        </p:nvSpPr>
        <p:spPr>
          <a:xfrm>
            <a:off x="2260600" y="3987800"/>
            <a:ext cx="1219200" cy="5588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OpenMP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F5F56E0-073A-9B15-5F9C-351962F6952F}"/>
              </a:ext>
            </a:extLst>
          </p:cNvPr>
          <p:cNvSpPr/>
          <p:nvPr/>
        </p:nvSpPr>
        <p:spPr>
          <a:xfrm>
            <a:off x="4140200" y="3987800"/>
            <a:ext cx="1219200" cy="55880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Aptos" panose="020B0004020202020204" pitchFamily="34" charset="0"/>
              </a:rPr>
              <a:t>MPI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5709852-94A7-EA5F-8144-759529A41786}"/>
              </a:ext>
            </a:extLst>
          </p:cNvPr>
          <p:cNvSpPr txBox="1"/>
          <p:nvPr/>
        </p:nvSpPr>
        <p:spPr>
          <a:xfrm>
            <a:off x="8255000" y="3759200"/>
            <a:ext cx="2159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384256"/>
                </a:solidFill>
                <a:latin typeface="Aptos" panose="020B0004020202020204" pitchFamily="34" charset="0"/>
              </a:rPr>
              <a:t>AMD Ryzen 5 9600X</a:t>
            </a:r>
          </a:p>
          <a:p>
            <a:r>
              <a:rPr lang="en-US" sz="1400">
                <a:solidFill>
                  <a:srgbClr val="384256"/>
                </a:solidFill>
                <a:latin typeface="Aptos" panose="020B0004020202020204" pitchFamily="34" charset="0"/>
              </a:rPr>
              <a:t>Windows, g++ 14.2.0</a:t>
            </a:r>
          </a:p>
          <a:p>
            <a:r>
              <a:rPr lang="en-US" sz="1400">
                <a:solidFill>
                  <a:srgbClr val="384256"/>
                </a:solidFill>
                <a:latin typeface="Aptos" panose="020B0004020202020204" pitchFamily="34" charset="0"/>
              </a:rPr>
              <a:t>Headless benchmark</a:t>
            </a:r>
            <a:endParaRPr lang="pt-BR" sz="14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73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804B5A4-E555-7AAC-82D8-FEA4B2D9BEBF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Context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DACD04-FFA1-F932-71D2-15DB38EB5B59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141B2D"/>
                </a:solidFill>
                <a:latin typeface="Aptos Display" panose="020B0004020202020204" pitchFamily="34" charset="0"/>
              </a:rPr>
              <a:t>Problem and Benchmark Setup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C2B41F6-6B37-9CB4-27B2-36EF8F50C87F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1907614-EB8E-00FD-0B0A-8A104F38FC4B}"/>
              </a:ext>
            </a:extLst>
          </p:cNvPr>
          <p:cNvSpPr/>
          <p:nvPr/>
        </p:nvSpPr>
        <p:spPr>
          <a:xfrm>
            <a:off x="660400" y="1422400"/>
            <a:ext cx="5791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4FC6E5-81BA-6368-1113-66D9B176CFDF}"/>
              </a:ext>
            </a:extLst>
          </p:cNvPr>
          <p:cNvSpPr txBox="1"/>
          <p:nvPr/>
        </p:nvSpPr>
        <p:spPr>
          <a:xfrm>
            <a:off x="838200" y="1574800"/>
            <a:ext cx="5435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41B2D"/>
                </a:solidFill>
                <a:latin typeface="Aptos" panose="020B0004020202020204" pitchFamily="34" charset="0"/>
              </a:rPr>
              <a:t>Benchmark conditions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6DB258-8B34-8B37-8CFA-F52CDDD9E1F7}"/>
              </a:ext>
            </a:extLst>
          </p:cNvPr>
          <p:cNvSpPr txBox="1"/>
          <p:nvPr/>
        </p:nvSpPr>
        <p:spPr>
          <a:xfrm>
            <a:off x="838200" y="1955800"/>
            <a:ext cx="54356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Terrain: 513 x 513 fractal grid, with nest and food source.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Reference workload: 5000 ants, headless execution, identical rules for all methods.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Dominant phase: ant movement, due to random choices and irregular memory access.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Correctness fixes before measurement: seed initialization and pheromone buffer refresh.</a:t>
            </a:r>
            <a:endParaRPr lang="pt-BR" sz="15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220F1EF-0F57-6AA5-D5DC-9B79E875D0FA}"/>
              </a:ext>
            </a:extLst>
          </p:cNvPr>
          <p:cNvSpPr/>
          <p:nvPr/>
        </p:nvSpPr>
        <p:spPr>
          <a:xfrm>
            <a:off x="6654800" y="1422400"/>
            <a:ext cx="48514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86319D8-7122-DCCF-68DD-02521BE64DEB}"/>
              </a:ext>
            </a:extLst>
          </p:cNvPr>
          <p:cNvSpPr/>
          <p:nvPr/>
        </p:nvSpPr>
        <p:spPr>
          <a:xfrm>
            <a:off x="6807200" y="1549400"/>
            <a:ext cx="1371600" cy="330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Baseline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98797A-4758-89E5-AB61-8170407D7443}"/>
              </a:ext>
            </a:extLst>
          </p:cNvPr>
          <p:cNvSpPr txBox="1"/>
          <p:nvPr/>
        </p:nvSpPr>
        <p:spPr>
          <a:xfrm>
            <a:off x="6832600" y="1981200"/>
            <a:ext cx="449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0.904 ms/iter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FF91DC-22BA-A15A-63D1-6181A6F160E7}"/>
              </a:ext>
            </a:extLst>
          </p:cNvPr>
          <p:cNvSpPr txBox="1"/>
          <p:nvPr/>
        </p:nvSpPr>
        <p:spPr>
          <a:xfrm>
            <a:off x="6832600" y="2311400"/>
            <a:ext cx="449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Sequential AoS reference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59AFADF-264D-86E6-4AEC-4413330D6077}"/>
              </a:ext>
            </a:extLst>
          </p:cNvPr>
          <p:cNvSpPr/>
          <p:nvPr/>
        </p:nvSpPr>
        <p:spPr>
          <a:xfrm>
            <a:off x="6654800" y="3124200"/>
            <a:ext cx="48514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2514724-6F63-480D-305B-1C97A158341B}"/>
              </a:ext>
            </a:extLst>
          </p:cNvPr>
          <p:cNvSpPr/>
          <p:nvPr/>
        </p:nvSpPr>
        <p:spPr>
          <a:xfrm>
            <a:off x="6807200" y="3251200"/>
            <a:ext cx="1371600" cy="330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Bottleneck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8ED9BD9-B7BA-2C34-0561-3C0579E6FB95}"/>
              </a:ext>
            </a:extLst>
          </p:cNvPr>
          <p:cNvSpPr txBox="1"/>
          <p:nvPr/>
        </p:nvSpPr>
        <p:spPr>
          <a:xfrm>
            <a:off x="6832600" y="3683000"/>
            <a:ext cx="449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0.634 ms/iter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3E4B2EB-9B32-981A-E6F5-6FF50759C180}"/>
              </a:ext>
            </a:extLst>
          </p:cNvPr>
          <p:cNvSpPr txBox="1"/>
          <p:nvPr/>
        </p:nvSpPr>
        <p:spPr>
          <a:xfrm>
            <a:off x="6832600" y="4013200"/>
            <a:ext cx="449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8748B"/>
                </a:solidFill>
                <a:latin typeface="Aptos" panose="020B0004020202020204" pitchFamily="34" charset="0"/>
              </a:rPr>
              <a:t>Ant movement dominates the runtime</a:t>
            </a:r>
            <a:endParaRPr lang="pt-BR" sz="1200">
              <a:solidFill>
                <a:srgbClr val="68748B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69FF088-2C39-4429-9DD1-998CC9AB4B5F}"/>
              </a:ext>
            </a:extLst>
          </p:cNvPr>
          <p:cNvSpPr/>
          <p:nvPr/>
        </p:nvSpPr>
        <p:spPr>
          <a:xfrm>
            <a:off x="6654800" y="4826000"/>
            <a:ext cx="4851400" cy="1092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D25A1F1-FD0F-E086-EE83-97FB08B15E82}"/>
              </a:ext>
            </a:extLst>
          </p:cNvPr>
          <p:cNvSpPr/>
          <p:nvPr/>
        </p:nvSpPr>
        <p:spPr>
          <a:xfrm>
            <a:off x="6807200" y="4953000"/>
            <a:ext cx="1371600" cy="33020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Logic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1A0EDE9-8F21-AB53-2051-4ABB7414458C}"/>
              </a:ext>
            </a:extLst>
          </p:cNvPr>
          <p:cNvSpPr txBox="1"/>
          <p:nvPr/>
        </p:nvSpPr>
        <p:spPr>
          <a:xfrm>
            <a:off x="6832600" y="5384800"/>
            <a:ext cx="4495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Change -&gt; code -&gt; result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4B864CE-8636-393B-9915-F621E1B0BB66}"/>
              </a:ext>
            </a:extLst>
          </p:cNvPr>
          <p:cNvSpPr txBox="1"/>
          <p:nvPr/>
        </p:nvSpPr>
        <p:spPr>
          <a:xfrm>
            <a:off x="6832600" y="5715000"/>
            <a:ext cx="4495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68748B"/>
                </a:solidFill>
                <a:latin typeface="Aptos" panose="020B0004020202020204" pitchFamily="34" charset="0"/>
              </a:rPr>
              <a:t>Same structure for the three methods</a:t>
            </a:r>
            <a:endParaRPr lang="pt-BR" sz="1200">
              <a:solidFill>
                <a:srgbClr val="68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24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26411F-E43F-3931-A901-B2469A831663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Method 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EF431DE-FD9E-8049-7565-0DDBBF485D44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141B2D"/>
                </a:solidFill>
                <a:latin typeface="Aptos Display" panose="020B0004020202020204" pitchFamily="34" charset="0"/>
              </a:rPr>
              <a:t>Data Layout Reorganization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4F6757-E40D-7E42-0D7A-213DEB6E18A7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65BEA5-E796-1039-9D98-73AB067F5D79}"/>
              </a:ext>
            </a:extLst>
          </p:cNvPr>
          <p:cNvSpPr/>
          <p:nvPr/>
        </p:nvSpPr>
        <p:spPr>
          <a:xfrm>
            <a:off x="660400" y="1422400"/>
            <a:ext cx="3962400" cy="2235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747730-4311-B465-C047-511FF250CEA1}"/>
              </a:ext>
            </a:extLst>
          </p:cNvPr>
          <p:cNvSpPr txBox="1"/>
          <p:nvPr/>
        </p:nvSpPr>
        <p:spPr>
          <a:xfrm>
            <a:off x="838200" y="1574800"/>
            <a:ext cx="360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41B2D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EFB98D-7265-969F-3F90-F67E18246F1E}"/>
              </a:ext>
            </a:extLst>
          </p:cNvPr>
          <p:cNvSpPr txBox="1"/>
          <p:nvPr/>
        </p:nvSpPr>
        <p:spPr>
          <a:xfrm>
            <a:off x="838200" y="1955800"/>
            <a:ext cx="36068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AoS became SoA: position, state, and seed were separated into arrays.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Movement uses linear indices for terrain and pheromone arrays.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Touched cells are collected first, then updated once in the buffer.</a:t>
            </a:r>
            <a:endParaRPr lang="pt-BR" sz="15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84C98BA-1E22-686C-C9F8-04EEC4F350F0}"/>
              </a:ext>
            </a:extLst>
          </p:cNvPr>
          <p:cNvSpPr/>
          <p:nvPr/>
        </p:nvSpPr>
        <p:spPr>
          <a:xfrm>
            <a:off x="660400" y="3886200"/>
            <a:ext cx="3962400" cy="1752600"/>
          </a:xfrm>
          <a:prstGeom prst="roundRect">
            <a:avLst/>
          </a:prstGeom>
          <a:solidFill>
            <a:srgbClr val="EFF4FA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2E3376-3A1E-5C6E-EFC8-18B915614F07}"/>
              </a:ext>
            </a:extLst>
          </p:cNvPr>
          <p:cNvSpPr txBox="1"/>
          <p:nvPr/>
        </p:nvSpPr>
        <p:spPr>
          <a:xfrm>
            <a:off x="838200" y="4038600"/>
            <a:ext cx="3606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41B2D"/>
                </a:solidFill>
                <a:latin typeface="Aptos" panose="020B0004020202020204" pitchFamily="34" charset="0"/>
              </a:rPr>
              <a:t>Representative code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86CCCA3-C996-484B-FD57-0C9AC2D2E57B}"/>
              </a:ext>
            </a:extLst>
          </p:cNvPr>
          <p:cNvSpPr txBox="1"/>
          <p:nvPr/>
        </p:nvSpPr>
        <p:spPr>
          <a:xfrm>
            <a:off x="838200" y="4343400"/>
            <a:ext cx="36068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vector&lt;uint32_t&gt; m_land_index, m_pher_index;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vector&lt;uint8_t&gt;  m_loaded;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for (size_t idx : m_touched_indices)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  buffer[idx] = compute_mark(map, idx);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8B6E539-AB7B-8771-742F-145614427E16}"/>
              </a:ext>
            </a:extLst>
          </p:cNvPr>
          <p:cNvSpPr/>
          <p:nvPr/>
        </p:nvSpPr>
        <p:spPr>
          <a:xfrm>
            <a:off x="4876800" y="1574800"/>
            <a:ext cx="1930400" cy="1346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B2D368A-29E5-BBD1-21A3-B078678CED74}"/>
              </a:ext>
            </a:extLst>
          </p:cNvPr>
          <p:cNvSpPr/>
          <p:nvPr/>
        </p:nvSpPr>
        <p:spPr>
          <a:xfrm>
            <a:off x="5029200" y="1701800"/>
            <a:ext cx="1371600" cy="330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Total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713726D-4C7C-BBF2-9BC7-1C0177E60C5A}"/>
              </a:ext>
            </a:extLst>
          </p:cNvPr>
          <p:cNvSpPr txBox="1"/>
          <p:nvPr/>
        </p:nvSpPr>
        <p:spPr>
          <a:xfrm>
            <a:off x="5054600" y="21336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0.874 ms/iter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F2075A4-4DD9-4AD7-FC98-781E2D80F633}"/>
              </a:ext>
            </a:extLst>
          </p:cNvPr>
          <p:cNvSpPr txBox="1"/>
          <p:nvPr/>
        </p:nvSpPr>
        <p:spPr>
          <a:xfrm>
            <a:off x="5054600" y="2463800"/>
            <a:ext cx="157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vs 0.904 ms/iter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62FAFCE-D3B4-81D2-CFA0-6E291BF311C9}"/>
              </a:ext>
            </a:extLst>
          </p:cNvPr>
          <p:cNvSpPr/>
          <p:nvPr/>
        </p:nvSpPr>
        <p:spPr>
          <a:xfrm>
            <a:off x="7035800" y="1574800"/>
            <a:ext cx="1930400" cy="1346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E69B636-5A79-1453-9D47-2F31C289CBE4}"/>
              </a:ext>
            </a:extLst>
          </p:cNvPr>
          <p:cNvSpPr/>
          <p:nvPr/>
        </p:nvSpPr>
        <p:spPr>
          <a:xfrm>
            <a:off x="7188200" y="1701800"/>
            <a:ext cx="1371600" cy="330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Speedup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1740301-659E-0F13-3050-7F205D7EB35C}"/>
              </a:ext>
            </a:extLst>
          </p:cNvPr>
          <p:cNvSpPr txBox="1"/>
          <p:nvPr/>
        </p:nvSpPr>
        <p:spPr>
          <a:xfrm>
            <a:off x="7213600" y="21336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1.03x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6657F46-3493-E868-01F8-D815FCC092FC}"/>
              </a:ext>
            </a:extLst>
          </p:cNvPr>
          <p:cNvSpPr txBox="1"/>
          <p:nvPr/>
        </p:nvSpPr>
        <p:spPr>
          <a:xfrm>
            <a:off x="7213600" y="2463800"/>
            <a:ext cx="157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Small but measurable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AEB38E0-72E3-6BD5-321F-47C4473C723A}"/>
              </a:ext>
            </a:extLst>
          </p:cNvPr>
          <p:cNvSpPr/>
          <p:nvPr/>
        </p:nvSpPr>
        <p:spPr>
          <a:xfrm>
            <a:off x="9194800" y="1574800"/>
            <a:ext cx="1930400" cy="1346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1569A41-66B7-1A4B-3423-DC753976C4B0}"/>
              </a:ext>
            </a:extLst>
          </p:cNvPr>
          <p:cNvSpPr/>
          <p:nvPr/>
        </p:nvSpPr>
        <p:spPr>
          <a:xfrm>
            <a:off x="9347200" y="1701800"/>
            <a:ext cx="1371600" cy="33020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Reading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1D3394D-E981-8A21-E722-DCF122CC146A}"/>
              </a:ext>
            </a:extLst>
          </p:cNvPr>
          <p:cNvSpPr txBox="1"/>
          <p:nvPr/>
        </p:nvSpPr>
        <p:spPr>
          <a:xfrm>
            <a:off x="9372600" y="2133600"/>
            <a:ext cx="157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Useful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642B042-FB34-6B44-5520-D742BD2042C2}"/>
              </a:ext>
            </a:extLst>
          </p:cNvPr>
          <p:cNvSpPr txBox="1"/>
          <p:nvPr/>
        </p:nvSpPr>
        <p:spPr>
          <a:xfrm>
            <a:off x="9372600" y="2463800"/>
            <a:ext cx="1574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But not transformative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B0424A9-A985-C18B-96EF-985B90679D49}"/>
              </a:ext>
            </a:extLst>
          </p:cNvPr>
          <p:cNvSpPr txBox="1"/>
          <p:nvPr/>
        </p:nvSpPr>
        <p:spPr>
          <a:xfrm>
            <a:off x="4876800" y="3175000"/>
            <a:ext cx="6248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41B2D"/>
                </a:solidFill>
                <a:latin typeface="Aptos" panose="020B0004020202020204" pitchFamily="34" charset="0"/>
              </a:rPr>
              <a:t>Interpretation: the layout became cleaner, but the movement kernel remained irregular and only weakly vectorizable.</a:t>
            </a:r>
            <a:endParaRPr lang="pt-BR" sz="1500" b="1">
              <a:solidFill>
                <a:srgbClr val="141B2D"/>
              </a:solidFill>
              <a:latin typeface="Aptos" panose="020B0004020202020204" pitchFamily="34" charset="0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CD77CFC1-3AD1-1961-98BA-BFEA6C7D37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759200"/>
            <a:ext cx="62484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3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D87BC6B-030C-C184-3C87-DB40523849AA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Method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CFC139-F4B4-8616-2E69-3012A5FC10CB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141B2D"/>
                </a:solidFill>
                <a:latin typeface="Aptos Display" panose="020B0004020202020204" pitchFamily="34" charset="0"/>
              </a:rPr>
              <a:t>OpenMP Parallelization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C62328-7D49-5325-FF3C-DD51BA79A53A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0A608F4-0F35-2873-A0A7-1CBEE26D366C}"/>
              </a:ext>
            </a:extLst>
          </p:cNvPr>
          <p:cNvSpPr/>
          <p:nvPr/>
        </p:nvSpPr>
        <p:spPr>
          <a:xfrm>
            <a:off x="660400" y="1422400"/>
            <a:ext cx="3708400" cy="21336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8A3C28-EB9A-E022-09D3-CCBE782C1A2A}"/>
              </a:ext>
            </a:extLst>
          </p:cNvPr>
          <p:cNvSpPr txBox="1"/>
          <p:nvPr/>
        </p:nvSpPr>
        <p:spPr>
          <a:xfrm>
            <a:off x="838200" y="1574800"/>
            <a:ext cx="335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41B2D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B2912A-C83D-7CCA-796F-CB8FE15DE6F7}"/>
              </a:ext>
            </a:extLst>
          </p:cNvPr>
          <p:cNvSpPr txBox="1"/>
          <p:nvPr/>
        </p:nvSpPr>
        <p:spPr>
          <a:xfrm>
            <a:off x="838200" y="1955800"/>
            <a:ext cx="33528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The final version parallelized ant movement, not only evaporation.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Thread-local mark buffers removed races in the pheromone update.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The merge step remained deterministic.</a:t>
            </a:r>
            <a:endParaRPr lang="pt-BR" sz="15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900AB2-3F15-AAA9-6752-7C1FD02B0336}"/>
              </a:ext>
            </a:extLst>
          </p:cNvPr>
          <p:cNvSpPr/>
          <p:nvPr/>
        </p:nvSpPr>
        <p:spPr>
          <a:xfrm>
            <a:off x="660400" y="3810000"/>
            <a:ext cx="3708400" cy="1854200"/>
          </a:xfrm>
          <a:prstGeom prst="roundRect">
            <a:avLst/>
          </a:prstGeom>
          <a:solidFill>
            <a:srgbClr val="EFF4FA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2AE1A5-1B25-683F-CDE1-56EC59D0740C}"/>
              </a:ext>
            </a:extLst>
          </p:cNvPr>
          <p:cNvSpPr txBox="1"/>
          <p:nvPr/>
        </p:nvSpPr>
        <p:spPr>
          <a:xfrm>
            <a:off x="838200" y="3962400"/>
            <a:ext cx="3352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41B2D"/>
                </a:solidFill>
                <a:latin typeface="Aptos" panose="020B0004020202020204" pitchFamily="34" charset="0"/>
              </a:rPr>
              <a:t>Representative code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2DA1BC-52A7-309C-3398-93D6E9ECC0C2}"/>
              </a:ext>
            </a:extLst>
          </p:cNvPr>
          <p:cNvSpPr txBox="1"/>
          <p:nvPr/>
        </p:nvSpPr>
        <p:spPr>
          <a:xfrm>
            <a:off x="838200" y="4267200"/>
            <a:ext cx="33528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#pragma omp parallel reduction(+ : food_delta)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ants[i].advance_collect(...);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local_marks.values[idx] = phen.compute_mark(pos);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merge thread-local marks into the global buffer;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33DF632-8262-71A9-EFF6-5AF0C41E2D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0" y="1346200"/>
            <a:ext cx="6680200" cy="39878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DFC96CC-7BD8-6F1F-17AF-9FB9CD951266}"/>
              </a:ext>
            </a:extLst>
          </p:cNvPr>
          <p:cNvSpPr/>
          <p:nvPr/>
        </p:nvSpPr>
        <p:spPr>
          <a:xfrm>
            <a:off x="4724400" y="5562600"/>
            <a:ext cx="6527800" cy="431800"/>
          </a:xfrm>
          <a:prstGeom prst="roundRect">
            <a:avLst/>
          </a:prstGeom>
          <a:solidFill>
            <a:srgbClr val="E8F7EC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41B2D"/>
                </a:solidFill>
                <a:latin typeface="Aptos" panose="020B0004020202020204" pitchFamily="34" charset="0"/>
              </a:rPr>
              <a:t>Best result: 0.412 ms/iter, corresponding to about 2.29x speedup.</a:t>
            </a:r>
            <a:endParaRPr lang="pt-BR" sz="1400" b="1">
              <a:solidFill>
                <a:srgbClr val="141B2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21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A82DB0-3533-B1FB-AB13-59F07DCFBBF1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Method 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C1ECF9-8ED9-9B18-6335-5B801ECB1692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141B2D"/>
                </a:solidFill>
                <a:latin typeface="Aptos Display" panose="020B0004020202020204" pitchFamily="34" charset="0"/>
              </a:rPr>
              <a:t>MPI Parallelization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87C0BA-948A-DA66-DE53-51E48201C0C6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1E5530-F5B3-8D87-45E9-9F705C841369}"/>
              </a:ext>
            </a:extLst>
          </p:cNvPr>
          <p:cNvSpPr/>
          <p:nvPr/>
        </p:nvSpPr>
        <p:spPr>
          <a:xfrm>
            <a:off x="660400" y="1422400"/>
            <a:ext cx="3708400" cy="22352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226603-2009-F6A6-4E0F-7DA4FE9721AA}"/>
              </a:ext>
            </a:extLst>
          </p:cNvPr>
          <p:cNvSpPr txBox="1"/>
          <p:nvPr/>
        </p:nvSpPr>
        <p:spPr>
          <a:xfrm>
            <a:off x="838200" y="1574800"/>
            <a:ext cx="335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41B2D"/>
                </a:solidFill>
                <a:latin typeface="Aptos" panose="020B0004020202020204" pitchFamily="34" charset="0"/>
              </a:rPr>
              <a:t>What changed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4DEAAA-B293-CE8D-84B8-5E87EAC8B995}"/>
              </a:ext>
            </a:extLst>
          </p:cNvPr>
          <p:cNvSpPr txBox="1"/>
          <p:nvPr/>
        </p:nvSpPr>
        <p:spPr>
          <a:xfrm>
            <a:off x="838200" y="1955800"/>
            <a:ext cx="33528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Each process owns only a subset of ants, but keeps the full map.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The pheromone buffer is synchronized with MPI_Allreduce.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Evaporation is distributed by stripes, followed by a second synchronization.</a:t>
            </a:r>
            <a:endParaRPr lang="pt-BR" sz="15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CAA7813-C802-A531-3C05-43F320621BFF}"/>
              </a:ext>
            </a:extLst>
          </p:cNvPr>
          <p:cNvSpPr/>
          <p:nvPr/>
        </p:nvSpPr>
        <p:spPr>
          <a:xfrm>
            <a:off x="660400" y="3886200"/>
            <a:ext cx="3708400" cy="1778000"/>
          </a:xfrm>
          <a:prstGeom prst="roundRect">
            <a:avLst/>
          </a:prstGeom>
          <a:solidFill>
            <a:srgbClr val="EFF4FA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A495B5-EC84-D468-38FE-45A9145C6E5E}"/>
              </a:ext>
            </a:extLst>
          </p:cNvPr>
          <p:cNvSpPr txBox="1"/>
          <p:nvPr/>
        </p:nvSpPr>
        <p:spPr>
          <a:xfrm>
            <a:off x="838200" y="4038600"/>
            <a:ext cx="3352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41B2D"/>
                </a:solidFill>
                <a:latin typeface="Aptos" panose="020B0004020202020204" pitchFamily="34" charset="0"/>
              </a:rPr>
              <a:t>Representative code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0775FC6-72E5-5CC1-C73A-54C921D85DDC}"/>
              </a:ext>
            </a:extLst>
          </p:cNvPr>
          <p:cNvSpPr txBox="1"/>
          <p:nvPr/>
        </p:nvSpPr>
        <p:spPr>
          <a:xfrm>
            <a:off x="838200" y="4343400"/>
            <a:ext cx="3352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for (...) {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for (auto&amp; a : ants) a.advance(...);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MPI_Allreduce(..., MPI_MAX, ...);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phen.do_evaporation_stripe(...);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  MPI_Allreduce(..., MPI_MIN, ...);</a:t>
            </a:r>
          </a:p>
          <a:p>
            <a:r>
              <a:rPr lang="pt-BR" sz="1000">
                <a:solidFill>
                  <a:srgbClr val="384256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C2B93D1-076A-96E0-10AE-555ACBD9C4B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0" y="1346200"/>
            <a:ext cx="6680200" cy="39878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1F6D6BD-C90E-87C0-AB9C-A5047F68FCFB}"/>
              </a:ext>
            </a:extLst>
          </p:cNvPr>
          <p:cNvSpPr/>
          <p:nvPr/>
        </p:nvSpPr>
        <p:spPr>
          <a:xfrm>
            <a:off x="4724400" y="5562600"/>
            <a:ext cx="6527800" cy="431800"/>
          </a:xfrm>
          <a:prstGeom prst="roundRect">
            <a:avLst/>
          </a:prstGeom>
          <a:solidFill>
            <a:srgbClr val="FFF4EA"/>
          </a:solidFill>
          <a:ln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41B2D"/>
                </a:solidFill>
                <a:latin typeface="Aptos" panose="020B0004020202020204" pitchFamily="34" charset="0"/>
              </a:rPr>
              <a:t>At 5k ants MPI is slower; at 100k ants the best case is 2 processes with about 1.46x speedup.</a:t>
            </a:r>
            <a:endParaRPr lang="pt-BR" sz="1400" b="1">
              <a:solidFill>
                <a:srgbClr val="141B2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38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CE76C47-DCF5-3A7C-086A-9E9A05218647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Comparison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112498-48CC-5C8C-7F01-ED0E9F6D0EC9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141B2D"/>
                </a:solidFill>
                <a:latin typeface="Aptos Display" panose="020B0004020202020204" pitchFamily="34" charset="0"/>
              </a:rPr>
              <a:t>Synthesis in the Common Workload</a:t>
            </a:r>
            <a:endParaRPr lang="pt-BR" sz="2300" b="1">
              <a:solidFill>
                <a:srgbClr val="141B2D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5FFF63-F6C2-688B-6839-90FF8EE17ED3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8C8F82D-050E-B088-2C9C-AFC28FAA26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422400"/>
            <a:ext cx="8128000" cy="40640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9D82C85-0FF1-D753-D6CF-BF2E3DBC6B4D}"/>
              </a:ext>
            </a:extLst>
          </p:cNvPr>
          <p:cNvSpPr/>
          <p:nvPr/>
        </p:nvSpPr>
        <p:spPr>
          <a:xfrm>
            <a:off x="9398000" y="1600200"/>
            <a:ext cx="19050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47CAB8A-CA0A-A37E-35B0-8387D54F2407}"/>
              </a:ext>
            </a:extLst>
          </p:cNvPr>
          <p:cNvSpPr/>
          <p:nvPr/>
        </p:nvSpPr>
        <p:spPr>
          <a:xfrm>
            <a:off x="9550400" y="1727200"/>
            <a:ext cx="1371600" cy="330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SoA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707CF3-0950-4922-37EB-9376A35E5B7B}"/>
              </a:ext>
            </a:extLst>
          </p:cNvPr>
          <p:cNvSpPr txBox="1"/>
          <p:nvPr/>
        </p:nvSpPr>
        <p:spPr>
          <a:xfrm>
            <a:off x="9575800" y="21590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1.03x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DF9C3D-48EB-0A90-7687-60BEFCB320C4}"/>
              </a:ext>
            </a:extLst>
          </p:cNvPr>
          <p:cNvSpPr txBox="1"/>
          <p:nvPr/>
        </p:nvSpPr>
        <p:spPr>
          <a:xfrm>
            <a:off x="9575800" y="2489200"/>
            <a:ext cx="1549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Small gain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48C7F18-5FB7-7CFA-D839-C2CD89E90CD8}"/>
              </a:ext>
            </a:extLst>
          </p:cNvPr>
          <p:cNvSpPr/>
          <p:nvPr/>
        </p:nvSpPr>
        <p:spPr>
          <a:xfrm>
            <a:off x="9398000" y="3124200"/>
            <a:ext cx="19050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400759B-BD47-3CB5-CB77-5516E538C5EF}"/>
              </a:ext>
            </a:extLst>
          </p:cNvPr>
          <p:cNvSpPr/>
          <p:nvPr/>
        </p:nvSpPr>
        <p:spPr>
          <a:xfrm>
            <a:off x="9550400" y="3251200"/>
            <a:ext cx="1371600" cy="330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OpenMP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A4F5D8-79A8-32DA-A968-96C5028D773D}"/>
              </a:ext>
            </a:extLst>
          </p:cNvPr>
          <p:cNvSpPr txBox="1"/>
          <p:nvPr/>
        </p:nvSpPr>
        <p:spPr>
          <a:xfrm>
            <a:off x="9575800" y="36830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2.29x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464EA2D-8DDF-49FD-0F37-E813F48C9F5D}"/>
              </a:ext>
            </a:extLst>
          </p:cNvPr>
          <p:cNvSpPr txBox="1"/>
          <p:nvPr/>
        </p:nvSpPr>
        <p:spPr>
          <a:xfrm>
            <a:off x="9575800" y="4013200"/>
            <a:ext cx="1549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Best practical result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D7FE39-6446-6F02-8496-B39361A35D89}"/>
              </a:ext>
            </a:extLst>
          </p:cNvPr>
          <p:cNvSpPr/>
          <p:nvPr/>
        </p:nvSpPr>
        <p:spPr>
          <a:xfrm>
            <a:off x="9398000" y="4648200"/>
            <a:ext cx="1905000" cy="1320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3AC9A63-0AFC-D735-B55C-D6D9D7B52DFD}"/>
              </a:ext>
            </a:extLst>
          </p:cNvPr>
          <p:cNvSpPr/>
          <p:nvPr/>
        </p:nvSpPr>
        <p:spPr>
          <a:xfrm>
            <a:off x="9550400" y="4775200"/>
            <a:ext cx="1371600" cy="33020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Aptos" panose="020B0004020202020204" pitchFamily="34" charset="0"/>
              </a:rPr>
              <a:t>MPI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786ECC9-D34F-DA21-E027-0D05D2E1D52C}"/>
              </a:ext>
            </a:extLst>
          </p:cNvPr>
          <p:cNvSpPr txBox="1"/>
          <p:nvPr/>
        </p:nvSpPr>
        <p:spPr>
          <a:xfrm>
            <a:off x="9575800" y="52070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141B2D"/>
                </a:solidFill>
                <a:latin typeface="Aptos" panose="020B0004020202020204" pitchFamily="34" charset="0"/>
              </a:rPr>
              <a:t>&lt; 1x at 5k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B25CBB-3F2A-AB0B-73C4-0012898B869F}"/>
              </a:ext>
            </a:extLst>
          </p:cNvPr>
          <p:cNvSpPr txBox="1"/>
          <p:nvPr/>
        </p:nvSpPr>
        <p:spPr>
          <a:xfrm>
            <a:off x="9575800" y="55372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68748B"/>
                </a:solidFill>
                <a:latin typeface="Aptos" panose="020B0004020202020204" pitchFamily="34" charset="0"/>
              </a:rPr>
              <a:t>Needs larger workloads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2480EAF-CB87-EBAF-A682-2BADD4E1A24C}"/>
              </a:ext>
            </a:extLst>
          </p:cNvPr>
          <p:cNvSpPr txBox="1"/>
          <p:nvPr/>
        </p:nvSpPr>
        <p:spPr>
          <a:xfrm>
            <a:off x="787400" y="5689600"/>
            <a:ext cx="825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41B2D"/>
                </a:solidFill>
                <a:latin typeface="Aptos" panose="020B0004020202020204" pitchFamily="34" charset="0"/>
              </a:rPr>
              <a:t>OpenMP is the most effective optimization in the normal regime, while MPI only becomes attractive when the workload is much larger.</a:t>
            </a:r>
            <a:endParaRPr lang="pt-BR" sz="1400" b="1">
              <a:solidFill>
                <a:srgbClr val="141B2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799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F9A5A0-59B2-8D5A-05DF-284D9E804E43}"/>
              </a:ext>
            </a:extLst>
          </p:cNvPr>
          <p:cNvSpPr txBox="1"/>
          <p:nvPr/>
        </p:nvSpPr>
        <p:spPr>
          <a:xfrm>
            <a:off x="660400" y="3048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68748B"/>
                </a:solidFill>
                <a:latin typeface="Aptos" panose="020B0004020202020204" pitchFamily="34" charset="0"/>
              </a:rPr>
              <a:t>Takeaways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F46729-9A0E-80CF-6EB5-8A1626077D10}"/>
              </a:ext>
            </a:extLst>
          </p:cNvPr>
          <p:cNvSpPr txBox="1"/>
          <p:nvPr/>
        </p:nvSpPr>
        <p:spPr>
          <a:xfrm>
            <a:off x="660400" y="533400"/>
            <a:ext cx="965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300" b="1">
                <a:solidFill>
                  <a:srgbClr val="141B2D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AE1B11-D2AD-B552-6F24-3F82C5276334}"/>
              </a:ext>
            </a:extLst>
          </p:cNvPr>
          <p:cNvSpPr/>
          <p:nvPr/>
        </p:nvSpPr>
        <p:spPr>
          <a:xfrm>
            <a:off x="660400" y="1066800"/>
            <a:ext cx="863600" cy="50800"/>
          </a:xfrm>
          <a:prstGeom prst="rect">
            <a:avLst/>
          </a:prstGeom>
          <a:solidFill>
            <a:srgbClr val="0891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1CACDC3-E8CB-97B5-6578-39BBDD802C2C}"/>
              </a:ext>
            </a:extLst>
          </p:cNvPr>
          <p:cNvSpPr/>
          <p:nvPr/>
        </p:nvSpPr>
        <p:spPr>
          <a:xfrm>
            <a:off x="838200" y="1600200"/>
            <a:ext cx="10414000" cy="3860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224EAE-8FE3-4D35-B666-60AF4F7DCC7E}"/>
              </a:ext>
            </a:extLst>
          </p:cNvPr>
          <p:cNvSpPr txBox="1"/>
          <p:nvPr/>
        </p:nvSpPr>
        <p:spPr>
          <a:xfrm>
            <a:off x="1016000" y="1752600"/>
            <a:ext cx="1005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41B2D"/>
                </a:solidFill>
                <a:latin typeface="Aptos" panose="020B0004020202020204" pitchFamily="34" charset="0"/>
              </a:rPr>
              <a:t>Main conclusions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D51F80-EE1E-570F-1553-EEEF4D37FEC4}"/>
              </a:ext>
            </a:extLst>
          </p:cNvPr>
          <p:cNvSpPr txBox="1"/>
          <p:nvPr/>
        </p:nvSpPr>
        <p:spPr>
          <a:xfrm>
            <a:off x="1016000" y="2133600"/>
            <a:ext cx="100584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The first requirement was correctness: seed initialization and pheromone buffer refresh had to be fixed before any serious comparison.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SoA improved the code organization and produced a small gain, but it did not change the fundamental behavior of the movement kernel.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OpenMP produced the strongest result because it directly targeted the dominant phase of the simulation.</a:t>
            </a:r>
          </a:p>
          <a:p>
            <a:r>
              <a:rPr lang="en-US" sz="1500">
                <a:solidFill>
                  <a:srgbClr val="384256"/>
                </a:solidFill>
                <a:latin typeface="Aptos" panose="020B0004020202020204" pitchFamily="34" charset="0"/>
              </a:rPr>
              <a:t>- MPI was correct after the build fix, but its replicated-map design introduced a communication cost that is only amortized at larger workloads.</a:t>
            </a:r>
            <a:endParaRPr lang="pt-BR" sz="1500">
              <a:solidFill>
                <a:srgbClr val="384256"/>
              </a:solidFill>
              <a:latin typeface="Aptos" panose="020B00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EA354B-9510-A997-1E13-52AD54FEE17C}"/>
              </a:ext>
            </a:extLst>
          </p:cNvPr>
          <p:cNvSpPr/>
          <p:nvPr/>
        </p:nvSpPr>
        <p:spPr>
          <a:xfrm>
            <a:off x="838200" y="5689600"/>
            <a:ext cx="10414000" cy="431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141B2D"/>
                </a:solidFill>
                <a:latin typeface="Aptos" panose="020B0004020202020204" pitchFamily="34" charset="0"/>
              </a:rPr>
              <a:t>OpenMP gave the best balance between implementation effort and performance gain.</a:t>
            </a:r>
            <a:endParaRPr lang="pt-BR" sz="1400" b="1">
              <a:solidFill>
                <a:srgbClr val="141B2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4555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Personalizar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Joab Da Silva Bezerra</dc:creator>
  <cp:lastModifiedBy>Joab Da Silva Bezerra</cp:lastModifiedBy>
  <cp:revision>1</cp:revision>
  <dcterms:created xsi:type="dcterms:W3CDTF">2026-03-15T02:36:39Z</dcterms:created>
  <dcterms:modified xsi:type="dcterms:W3CDTF">2026-03-15T02:36:39Z</dcterms:modified>
</cp:coreProperties>
</file>